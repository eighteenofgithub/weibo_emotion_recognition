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3" r:id="rId6"/>
    <p:sldId id="264" r:id="rId7"/>
    <p:sldId id="267" r:id="rId8"/>
    <p:sldId id="265" r:id="rId9"/>
    <p:sldId id="289" r:id="rId10"/>
    <p:sldId id="290" r:id="rId11"/>
    <p:sldId id="268" r:id="rId12"/>
    <p:sldId id="269" r:id="rId13"/>
    <p:sldId id="292" r:id="rId14"/>
    <p:sldId id="293" r:id="rId15"/>
    <p:sldId id="271" r:id="rId16"/>
    <p:sldId id="273" r:id="rId17"/>
    <p:sldId id="274" r:id="rId18"/>
    <p:sldId id="275" r:id="rId19"/>
    <p:sldId id="276" r:id="rId20"/>
    <p:sldId id="277" r:id="rId21"/>
    <p:sldId id="291" r:id="rId22"/>
    <p:sldId id="278" r:id="rId23"/>
    <p:sldId id="279" r:id="rId24"/>
    <p:sldId id="281" r:id="rId25"/>
    <p:sldId id="294" r:id="rId26"/>
    <p:sldId id="296" r:id="rId27"/>
    <p:sldId id="299" r:id="rId28"/>
    <p:sldId id="300" r:id="rId29"/>
    <p:sldId id="301" r:id="rId30"/>
    <p:sldId id="302" r:id="rId31"/>
    <p:sldId id="283" r:id="rId32"/>
    <p:sldId id="303"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7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16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60E7B-03C9-884B-9210-0D083C7F7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3052E-E0FB-ECCD-233C-77B1CCE1A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EF1DB-FA42-058D-BBDC-CBCB7FC54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82F876-258C-E5CA-0227-DA73827B958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98795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9B07-908B-9797-F96F-D843A6716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22C8A-651D-D230-7E46-56CC69F9A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237C5-BC90-3EDD-6A4B-09F9AF94D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07CB31-B0BE-9266-DF12-1C3C27FD7B1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94038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FAD1-DC21-FA5D-5C94-A75BE45F9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C9D64-822C-AA80-A775-DDD8CF4B7E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D0563-1B4C-8255-7FE7-7A86D9CAAE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32A490-1530-2553-D255-0FBFCC5BFBC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784419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991C1-9361-0809-7900-131A1FC51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B4952-4F43-FCC1-1C6C-20C5E808E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97314-DB0B-87CF-BDE2-473C931C7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05BC30-2C82-6045-ACB8-479FC50E0010}"/>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6344305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E054A-2D39-57EB-6066-568DC8361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22957-985A-5CF3-45C9-1F5A2814E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56DBE-E425-FEBE-8BDE-BEAEE8672E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73192-F6AE-469A-13F4-391C4137216C}"/>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233628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91BF7-43E0-E152-CC75-F64367853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C4DC1-E369-CC45-28F4-797C5AE36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E07A5-4B16-7C7F-7407-16536C73DF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E81C26-B459-16BA-4B25-2ACDB4A214EE}"/>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008084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5810-BBF8-4A82-CAF3-D75F7CAEC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57623-C9C0-0ABE-53B2-B0997D7D4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3B1E1-E344-DF14-AFB8-4026F62E3E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527C47-6561-DF47-2F77-0300AA6BA79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304111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C79-C3DE-89FF-80FE-E94EBC616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06601-0441-F7B8-F44E-46D178943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47C84-C6D6-6717-846A-62E3BC0DC4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796A68-8324-1A3A-5839-8844590254F1}"/>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220398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6A972-9CE8-CD8A-B469-2AF33217F7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0CFFC-91A7-ED9A-7D69-61C583D7C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740FD-30BA-7322-FB24-16E06D125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BD63A5-301B-9847-A133-A85322D1EDB3}"/>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755814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jpe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hyperlink" Target="https://zh.d2l.ai/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1500188"/>
            <a:ext cx="8001000" cy="666750"/>
          </a:xfrm>
          <a:prstGeom prst="rect">
            <a:avLst/>
          </a:prstGeom>
          <a:noFill/>
          <a:ln/>
        </p:spPr>
        <p:txBody>
          <a:bodyPr vert="horz" wrap="square" lIns="0" tIns="0" rIns="0" bIns="0" rtlCol="0" anchor="ctr"/>
          <a:lstStyle/>
          <a:p>
            <a:pPr marL="0" indent="0" algn="l">
              <a:lnSpc>
                <a:spcPts val="5250"/>
              </a:lnSpc>
              <a:buNone/>
            </a:pPr>
            <a:r>
              <a:rPr lang="en-US" sz="3750" b="1" dirty="0" err="1">
                <a:solidFill>
                  <a:srgbClr val="FFFFFF"/>
                </a:solidFill>
                <a:latin typeface="Microsoft YaHei" pitchFamily="34" charset="0"/>
                <a:ea typeface="Microsoft YaHei" pitchFamily="34" charset="-122"/>
                <a:cs typeface="Microsoft YaHei" pitchFamily="34" charset="-120"/>
              </a:rPr>
              <a:t>微博情感分析</a:t>
            </a:r>
            <a:r>
              <a:rPr lang="zh-CN" altLang="en-US" sz="3750" b="1" dirty="0">
                <a:solidFill>
                  <a:srgbClr val="FFFFFF"/>
                </a:solidFill>
                <a:latin typeface="Microsoft YaHei" pitchFamily="34" charset="0"/>
                <a:ea typeface="Microsoft YaHei" pitchFamily="34" charset="-122"/>
                <a:cs typeface="Microsoft YaHei" pitchFamily="34" charset="-120"/>
              </a:rPr>
              <a:t>系统</a:t>
            </a:r>
            <a:endParaRPr lang="en-US" sz="3750" dirty="0"/>
          </a:p>
        </p:txBody>
      </p:sp>
      <p:sp>
        <p:nvSpPr>
          <p:cNvPr id="4" name="Text 1"/>
          <p:cNvSpPr/>
          <p:nvPr/>
        </p:nvSpPr>
        <p:spPr>
          <a:xfrm>
            <a:off x="571500" y="2243138"/>
            <a:ext cx="8001000" cy="400050"/>
          </a:xfrm>
          <a:prstGeom prst="rect">
            <a:avLst/>
          </a:prstGeom>
          <a:noFill/>
          <a:ln/>
        </p:spPr>
        <p:txBody>
          <a:bodyPr vert="horz" wrap="square" lIns="0" tIns="0" rIns="0" bIns="0" rtlCol="0" anchor="ctr"/>
          <a:lstStyle/>
          <a:p>
            <a:pPr marL="0" indent="0" algn="l">
              <a:lnSpc>
                <a:spcPts val="3150"/>
              </a:lnSpc>
              <a:buNone/>
            </a:pPr>
            <a:endParaRPr lang="en-US" sz="2250" dirty="0"/>
          </a:p>
        </p:txBody>
      </p:sp>
      <p:sp>
        <p:nvSpPr>
          <p:cNvPr id="6" name="Text 3"/>
          <p:cNvSpPr/>
          <p:nvPr/>
        </p:nvSpPr>
        <p:spPr>
          <a:xfrm>
            <a:off x="571500" y="2857078"/>
            <a:ext cx="8001000" cy="219075"/>
          </a:xfrm>
          <a:prstGeom prst="rect">
            <a:avLst/>
          </a:prstGeom>
          <a:noFill/>
          <a:ln/>
        </p:spPr>
        <p:txBody>
          <a:bodyPr vert="horz" wrap="square" lIns="0" tIns="0" rIns="0" bIns="0" rtlCol="0" anchor="ctr"/>
          <a:lstStyle/>
          <a:p>
            <a:pPr marL="0" indent="0" algn="l">
              <a:lnSpc>
                <a:spcPts val="1725"/>
              </a:lnSpc>
              <a:buNone/>
            </a:pPr>
            <a:r>
              <a:rPr lang="zh-CN" altLang="en-US" sz="1200" dirty="0">
                <a:solidFill>
                  <a:schemeClr val="bg1"/>
                </a:solidFill>
              </a:rPr>
              <a:t>汇报人：</a:t>
            </a:r>
            <a:endParaRPr lang="en-US" altLang="zh-CN" sz="1200" dirty="0">
              <a:solidFill>
                <a:schemeClr val="bg1"/>
              </a:solidFill>
            </a:endParaRPr>
          </a:p>
          <a:p>
            <a:pPr marL="0" indent="0" algn="l">
              <a:lnSpc>
                <a:spcPts val="1725"/>
              </a:lnSpc>
              <a:buNone/>
            </a:pPr>
            <a:r>
              <a:rPr lang="zh-CN" altLang="en-US" sz="1200" dirty="0">
                <a:solidFill>
                  <a:schemeClr val="bg1"/>
                </a:solidFill>
              </a:rPr>
              <a:t>学号：</a:t>
            </a:r>
            <a:endParaRPr lang="en-US" altLang="zh-CN" sz="1200" dirty="0">
              <a:solidFill>
                <a:schemeClr val="bg1"/>
              </a:solidFill>
            </a:endParaRPr>
          </a:p>
          <a:p>
            <a:pPr marL="0" indent="0" algn="l">
              <a:lnSpc>
                <a:spcPts val="1725"/>
              </a:lnSpc>
              <a:buNone/>
            </a:pPr>
            <a:r>
              <a:rPr lang="zh-CN" altLang="en-US" sz="1200" dirty="0">
                <a:solidFill>
                  <a:schemeClr val="bg1"/>
                </a:solidFill>
              </a:rPr>
              <a:t>专业：</a:t>
            </a:r>
            <a:endParaRPr lang="en-US" altLang="zh-CN" sz="1200" dirty="0">
              <a:solidFill>
                <a:schemeClr val="bg1"/>
              </a:solidFill>
            </a:endParaRPr>
          </a:p>
          <a:p>
            <a:pPr marL="0" indent="0" algn="l">
              <a:lnSpc>
                <a:spcPts val="1725"/>
              </a:lnSpc>
              <a:buNone/>
            </a:pPr>
            <a:r>
              <a:rPr lang="zh-CN" altLang="en-US" sz="1200" dirty="0">
                <a:solidFill>
                  <a:schemeClr val="bg1"/>
                </a:solidFill>
              </a:rPr>
              <a:t>班级：</a:t>
            </a:r>
            <a:endParaRPr lang="en-US"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2952750" cy="5143500"/>
          </a:xfrm>
          <a:prstGeom prst="rect">
            <a:avLst/>
          </a:prstGeom>
        </p:spPr>
      </p:pic>
      <p:sp>
        <p:nvSpPr>
          <p:cNvPr id="4" name="Text 1"/>
          <p:cNvSpPr/>
          <p:nvPr/>
        </p:nvSpPr>
        <p:spPr>
          <a:xfrm>
            <a:off x="571500" y="3433763"/>
            <a:ext cx="1857375"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content</a:t>
            </a:r>
            <a:endParaRPr lang="en-US" sz="3750" dirty="0"/>
          </a:p>
        </p:txBody>
      </p:sp>
      <p:sp>
        <p:nvSpPr>
          <p:cNvPr id="5" name="Text 2"/>
          <p:cNvSpPr/>
          <p:nvPr/>
        </p:nvSpPr>
        <p:spPr>
          <a:xfrm>
            <a:off x="571500" y="4176713"/>
            <a:ext cx="1809750" cy="400050"/>
          </a:xfrm>
          <a:prstGeom prst="rect">
            <a:avLst/>
          </a:prstGeom>
          <a:noFill/>
          <a:ln/>
        </p:spPr>
        <p:txBody>
          <a:bodyPr vert="horz" wrap="square" lIns="0" tIns="0" rIns="0" bIns="0" rtlCol="0" anchor="ctr"/>
          <a:lstStyle/>
          <a:p>
            <a:pPr marL="0" indent="0" algn="l">
              <a:lnSpc>
                <a:spcPts val="3150"/>
              </a:lnSpc>
              <a:buNone/>
            </a:pPr>
            <a:r>
              <a:rPr lang="en-US" sz="2250" dirty="0">
                <a:solidFill>
                  <a:srgbClr val="FFFFFF"/>
                </a:solidFill>
                <a:latin typeface="Microsoft YaHei" pitchFamily="34" charset="0"/>
                <a:ea typeface="Microsoft YaHei" pitchFamily="34" charset="-122"/>
                <a:cs typeface="Microsoft YaHei" pitchFamily="34" charset="-120"/>
              </a:rPr>
              <a:t>目录</a:t>
            </a:r>
            <a:endParaRPr lang="en-US" sz="2250" dirty="0"/>
          </a:p>
        </p:txBody>
      </p:sp>
      <p:sp>
        <p:nvSpPr>
          <p:cNvPr id="6" name="Text 3"/>
          <p:cNvSpPr/>
          <p:nvPr/>
        </p:nvSpPr>
        <p:spPr>
          <a:xfrm>
            <a:off x="3524250" y="67389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01</a:t>
            </a:r>
            <a:endParaRPr lang="en-US" sz="1875" dirty="0"/>
          </a:p>
        </p:txBody>
      </p:sp>
      <p:sp>
        <p:nvSpPr>
          <p:cNvPr id="7" name="Text 4"/>
          <p:cNvSpPr/>
          <p:nvPr/>
        </p:nvSpPr>
        <p:spPr>
          <a:xfrm>
            <a:off x="3990975" y="74533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技术架构设计</a:t>
            </a:r>
            <a:endParaRPr lang="en-US" sz="1200" dirty="0"/>
          </a:p>
        </p:txBody>
      </p:sp>
      <p:sp>
        <p:nvSpPr>
          <p:cNvPr id="8" name="Text 5"/>
          <p:cNvSpPr/>
          <p:nvPr/>
        </p:nvSpPr>
        <p:spPr>
          <a:xfrm>
            <a:off x="3990975" y="99298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9" name="Text 6"/>
          <p:cNvSpPr/>
          <p:nvPr/>
        </p:nvSpPr>
        <p:spPr>
          <a:xfrm>
            <a:off x="3524250" y="130254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02</a:t>
            </a:r>
            <a:endParaRPr lang="en-US" sz="1875" dirty="0"/>
          </a:p>
        </p:txBody>
      </p:sp>
      <p:sp>
        <p:nvSpPr>
          <p:cNvPr id="10" name="Text 7"/>
          <p:cNvSpPr/>
          <p:nvPr/>
        </p:nvSpPr>
        <p:spPr>
          <a:xfrm>
            <a:off x="3990975" y="137398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数据采集与预处理</a:t>
            </a:r>
            <a:endParaRPr lang="en-US" sz="1200" dirty="0"/>
          </a:p>
        </p:txBody>
      </p:sp>
      <p:sp>
        <p:nvSpPr>
          <p:cNvPr id="11" name="Text 8"/>
          <p:cNvSpPr/>
          <p:nvPr/>
        </p:nvSpPr>
        <p:spPr>
          <a:xfrm>
            <a:off x="3990975" y="162163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2" name="Text 9"/>
          <p:cNvSpPr/>
          <p:nvPr/>
        </p:nvSpPr>
        <p:spPr>
          <a:xfrm>
            <a:off x="3524250" y="193119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03</a:t>
            </a:r>
            <a:endParaRPr lang="en-US" sz="1875" dirty="0"/>
          </a:p>
        </p:txBody>
      </p:sp>
      <p:sp>
        <p:nvSpPr>
          <p:cNvPr id="13" name="Text 10"/>
          <p:cNvSpPr/>
          <p:nvPr/>
        </p:nvSpPr>
        <p:spPr>
          <a:xfrm>
            <a:off x="3990975" y="200263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模型选型与词表构建</a:t>
            </a:r>
            <a:endParaRPr lang="en-US" sz="1200" dirty="0"/>
          </a:p>
        </p:txBody>
      </p:sp>
      <p:sp>
        <p:nvSpPr>
          <p:cNvPr id="14" name="Text 11"/>
          <p:cNvSpPr/>
          <p:nvPr/>
        </p:nvSpPr>
        <p:spPr>
          <a:xfrm>
            <a:off x="3990975" y="225028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5" name="Text 12"/>
          <p:cNvSpPr/>
          <p:nvPr/>
        </p:nvSpPr>
        <p:spPr>
          <a:xfrm>
            <a:off x="3524250" y="255984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04</a:t>
            </a:r>
            <a:endParaRPr lang="en-US" sz="1875" dirty="0"/>
          </a:p>
        </p:txBody>
      </p:sp>
      <p:sp>
        <p:nvSpPr>
          <p:cNvPr id="16" name="Text 13"/>
          <p:cNvSpPr/>
          <p:nvPr/>
        </p:nvSpPr>
        <p:spPr>
          <a:xfrm>
            <a:off x="3990975" y="263128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模型训练与性能验证</a:t>
            </a:r>
            <a:endParaRPr lang="en-US" sz="1200" dirty="0"/>
          </a:p>
        </p:txBody>
      </p:sp>
      <p:sp>
        <p:nvSpPr>
          <p:cNvPr id="17" name="Text 14"/>
          <p:cNvSpPr/>
          <p:nvPr/>
        </p:nvSpPr>
        <p:spPr>
          <a:xfrm>
            <a:off x="3990975" y="287893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18" name="Text 15"/>
          <p:cNvSpPr/>
          <p:nvPr/>
        </p:nvSpPr>
        <p:spPr>
          <a:xfrm>
            <a:off x="3524250" y="318849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05</a:t>
            </a:r>
            <a:endParaRPr lang="en-US" sz="1875" dirty="0"/>
          </a:p>
        </p:txBody>
      </p:sp>
      <p:sp>
        <p:nvSpPr>
          <p:cNvPr id="19" name="Text 16"/>
          <p:cNvSpPr/>
          <p:nvPr/>
        </p:nvSpPr>
        <p:spPr>
          <a:xfrm>
            <a:off x="3990975" y="325993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预测分析与持续优化</a:t>
            </a:r>
            <a:endParaRPr lang="en-US" sz="1200" dirty="0"/>
          </a:p>
        </p:txBody>
      </p:sp>
      <p:sp>
        <p:nvSpPr>
          <p:cNvPr id="20" name="Text 17"/>
          <p:cNvSpPr/>
          <p:nvPr/>
        </p:nvSpPr>
        <p:spPr>
          <a:xfrm>
            <a:off x="3990975" y="350758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21" name="Text 18"/>
          <p:cNvSpPr/>
          <p:nvPr/>
        </p:nvSpPr>
        <p:spPr>
          <a:xfrm>
            <a:off x="3524250" y="3817144"/>
            <a:ext cx="352425" cy="333375"/>
          </a:xfrm>
          <a:prstGeom prst="rect">
            <a:avLst/>
          </a:prstGeom>
          <a:noFill/>
          <a:ln/>
        </p:spPr>
        <p:txBody>
          <a:bodyPr vert="horz" wrap="square" lIns="0" tIns="0" rIns="0" bIns="0" rtlCol="0" anchor="ctr"/>
          <a:lstStyle/>
          <a:p>
            <a:pPr marL="0" indent="0" algn="l">
              <a:lnSpc>
                <a:spcPts val="3038"/>
              </a:lnSpc>
              <a:buNone/>
            </a:pPr>
            <a:r>
              <a:rPr lang="en-US" sz="1875" b="1" dirty="0">
                <a:solidFill>
                  <a:srgbClr val="1395FF"/>
                </a:solidFill>
                <a:latin typeface="Microsoft YaHei" pitchFamily="34" charset="0"/>
                <a:ea typeface="Microsoft YaHei" pitchFamily="34" charset="-122"/>
                <a:cs typeface="Microsoft YaHei" pitchFamily="34" charset="-120"/>
              </a:rPr>
              <a:t>06</a:t>
            </a:r>
            <a:endParaRPr lang="en-US" sz="1875" dirty="0"/>
          </a:p>
        </p:txBody>
      </p:sp>
      <p:sp>
        <p:nvSpPr>
          <p:cNvPr id="22" name="Text 19"/>
          <p:cNvSpPr/>
          <p:nvPr/>
        </p:nvSpPr>
        <p:spPr>
          <a:xfrm>
            <a:off x="3990975" y="3888581"/>
            <a:ext cx="4581525" cy="209550"/>
          </a:xfrm>
          <a:prstGeom prst="rect">
            <a:avLst/>
          </a:prstGeom>
          <a:noFill/>
          <a:ln/>
        </p:spPr>
        <p:txBody>
          <a:bodyPr vert="horz" wrap="square" lIns="0" tIns="0" rIns="0" bIns="0" rtlCol="0" anchor="ctr"/>
          <a:lstStyle/>
          <a:p>
            <a:pPr marL="0" indent="0" algn="l">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系统界面与功能展示</a:t>
            </a:r>
            <a:endParaRPr lang="en-US" sz="1200" dirty="0"/>
          </a:p>
        </p:txBody>
      </p:sp>
      <p:sp>
        <p:nvSpPr>
          <p:cNvPr id="23" name="Text 20"/>
          <p:cNvSpPr/>
          <p:nvPr/>
        </p:nvSpPr>
        <p:spPr>
          <a:xfrm>
            <a:off x="3990975" y="4136231"/>
            <a:ext cx="4581525"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技术架构设计</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01</a:t>
            </a:r>
            <a:endParaRPr lang="en-US" sz="2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0" name="Image 0" descr="preencoded.png">
            <a:extLst>
              <a:ext uri="{FF2B5EF4-FFF2-40B4-BE49-F238E27FC236}">
                <a16:creationId xmlns:a16="http://schemas.microsoft.com/office/drawing/2014/main" id="{7061BC74-A5C0-3FBD-FBFE-EBDDC023A767}"/>
              </a:ext>
            </a:extLst>
          </p:cNvPr>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21" name="文本框 20">
            <a:extLst>
              <a:ext uri="{FF2B5EF4-FFF2-40B4-BE49-F238E27FC236}">
                <a16:creationId xmlns:a16="http://schemas.microsoft.com/office/drawing/2014/main" id="{AF5C4CC3-60F6-904A-39B5-A71C2AE3189C}"/>
              </a:ext>
            </a:extLst>
          </p:cNvPr>
          <p:cNvSpPr txBox="1"/>
          <p:nvPr/>
        </p:nvSpPr>
        <p:spPr>
          <a:xfrm>
            <a:off x="1287780" y="1756829"/>
            <a:ext cx="7132320" cy="2031325"/>
          </a:xfrm>
          <a:prstGeom prst="rect">
            <a:avLst/>
          </a:prstGeom>
          <a:noFill/>
        </p:spPr>
        <p:txBody>
          <a:bodyPr wrap="square" rtlCol="0">
            <a:spAutoFit/>
          </a:bodyPr>
          <a:lstStyle/>
          <a:p>
            <a:r>
              <a:rPr lang="zh-CN" altLang="en-US" dirty="0"/>
              <a:t>深度学习框架： </a:t>
            </a:r>
            <a:r>
              <a:rPr lang="en-US" altLang="zh-CN" dirty="0" err="1"/>
              <a:t>PyTorch</a:t>
            </a:r>
            <a:r>
              <a:rPr lang="en-US" altLang="zh-CN" dirty="0"/>
              <a:t> </a:t>
            </a:r>
          </a:p>
          <a:p>
            <a:r>
              <a:rPr lang="zh-CN" altLang="en-US" dirty="0"/>
              <a:t>模型选择：</a:t>
            </a:r>
            <a:r>
              <a:rPr lang="en-US" altLang="zh-CN" dirty="0" err="1"/>
              <a:t>BiRNN</a:t>
            </a:r>
            <a:r>
              <a:rPr lang="zh-CN" altLang="en-US" dirty="0"/>
              <a:t>，</a:t>
            </a:r>
            <a:r>
              <a:rPr lang="en-US" altLang="zh-CN" dirty="0" err="1"/>
              <a:t>TextCNN</a:t>
            </a:r>
            <a:endParaRPr lang="en-US" altLang="zh-CN" dirty="0"/>
          </a:p>
          <a:p>
            <a:r>
              <a:rPr lang="zh-CN" altLang="en-US" dirty="0"/>
              <a:t>爬虫工具：</a:t>
            </a:r>
            <a:r>
              <a:rPr lang="en-US" altLang="zh-CN" dirty="0"/>
              <a:t>selenium</a:t>
            </a:r>
          </a:p>
          <a:p>
            <a:r>
              <a:rPr lang="zh-CN" altLang="en-US" dirty="0"/>
              <a:t>前端：</a:t>
            </a:r>
            <a:r>
              <a:rPr lang="en-US" altLang="zh-CN" dirty="0" err="1"/>
              <a:t>gradio</a:t>
            </a:r>
            <a:endParaRPr lang="en-US" altLang="zh-CN" dirty="0"/>
          </a:p>
          <a:p>
            <a:r>
              <a:rPr lang="zh-CN" altLang="en-US" dirty="0"/>
              <a:t>系统：</a:t>
            </a:r>
            <a:r>
              <a:rPr lang="en-US" altLang="zh-CN" dirty="0"/>
              <a:t>win11</a:t>
            </a:r>
          </a:p>
          <a:p>
            <a:r>
              <a:rPr lang="zh-CN" altLang="en-US" dirty="0"/>
              <a:t>硬件支持：</a:t>
            </a:r>
            <a:r>
              <a:rPr lang="en-US" altLang="zh-CN" dirty="0"/>
              <a:t>CUDA</a:t>
            </a:r>
            <a:r>
              <a:rPr lang="zh-CN" altLang="en-US" dirty="0"/>
              <a:t>加速框架，</a:t>
            </a:r>
            <a:r>
              <a:rPr lang="en-US" altLang="zh-CN" dirty="0"/>
              <a:t>GPU</a:t>
            </a:r>
            <a:r>
              <a:rPr lang="zh-CN" altLang="en-US" dirty="0"/>
              <a:t>：</a:t>
            </a:r>
            <a:r>
              <a:rPr lang="en-US" altLang="zh-CN" dirty="0"/>
              <a:t>RTX3050	</a:t>
            </a:r>
          </a:p>
          <a:p>
            <a:endParaRPr lang="zh-CN" altLang="en-US" dirty="0"/>
          </a:p>
        </p:txBody>
      </p:sp>
      <p:sp>
        <p:nvSpPr>
          <p:cNvPr id="22" name="Text 1">
            <a:extLst>
              <a:ext uri="{FF2B5EF4-FFF2-40B4-BE49-F238E27FC236}">
                <a16:creationId xmlns:a16="http://schemas.microsoft.com/office/drawing/2014/main" id="{A7C0F123-87DB-A46A-EEB9-C9FEB380FE5D}"/>
              </a:ext>
            </a:extLst>
          </p:cNvPr>
          <p:cNvSpPr/>
          <p:nvPr/>
        </p:nvSpPr>
        <p:spPr>
          <a:xfrm>
            <a:off x="723900" y="438150"/>
            <a:ext cx="8001000" cy="800100"/>
          </a:xfrm>
          <a:prstGeom prst="rect">
            <a:avLst/>
          </a:prstGeom>
          <a:noFill/>
          <a:ln/>
        </p:spPr>
        <p:txBody>
          <a:bodyPr vert="horz" wrap="square" lIns="0" tIns="0" rIns="0" bIns="0" rtlCol="0" anchor="ctr"/>
          <a:lstStyle/>
          <a:p>
            <a:pPr marL="0" indent="0" algn="l">
              <a:lnSpc>
                <a:spcPts val="3150"/>
              </a:lnSpc>
              <a:buNone/>
            </a:pPr>
            <a:endParaRPr lang="en-US" sz="2250" dirty="0"/>
          </a:p>
        </p:txBody>
      </p:sp>
      <p:sp>
        <p:nvSpPr>
          <p:cNvPr id="23" name="Text 1">
            <a:extLst>
              <a:ext uri="{FF2B5EF4-FFF2-40B4-BE49-F238E27FC236}">
                <a16:creationId xmlns:a16="http://schemas.microsoft.com/office/drawing/2014/main" id="{D071AD25-C488-B328-AB84-7815DAB7DE04}"/>
              </a:ext>
            </a:extLst>
          </p:cNvPr>
          <p:cNvSpPr/>
          <p:nvPr/>
        </p:nvSpPr>
        <p:spPr>
          <a:xfrm>
            <a:off x="419100" y="364956"/>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latin typeface="Microsoft YaHei" pitchFamily="34" charset="0"/>
                <a:ea typeface="Microsoft YaHei" pitchFamily="34" charset="-122"/>
              </a:rPr>
              <a:t>技术选型</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数据采集与预处理</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02</a:t>
            </a:r>
            <a:endParaRPr lang="en-US" sz="22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543550"/>
          </a:xfrm>
          <a:prstGeom prst="rect">
            <a:avLst/>
          </a:prstGeom>
          <a:solidFill>
            <a:srgbClr val="FFFFFF"/>
          </a:solidFill>
          <a:ln/>
        </p:spPr>
        <p:txBody>
          <a:bodyPr/>
          <a:lstStyle/>
          <a:p>
            <a:endParaRPr lang="zh-CN" altLang="en-US" dirty="0"/>
          </a:p>
        </p:txBody>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a:lnSpc>
                <a:spcPts val="3150"/>
              </a:lnSpc>
            </a:pPr>
            <a:r>
              <a:rPr lang="zh-CN" altLang="en-US" sz="2250" b="1" dirty="0">
                <a:solidFill>
                  <a:schemeClr val="bg1"/>
                </a:solidFill>
                <a:latin typeface="Microsoft YaHei" pitchFamily="34" charset="0"/>
                <a:ea typeface="Microsoft YaHei" pitchFamily="34" charset="-122"/>
                <a:cs typeface="Microsoft YaHei" pitchFamily="34" charset="-120"/>
              </a:rPr>
              <a:t>验证集：</a:t>
            </a:r>
            <a:r>
              <a:rPr lang="en-US" sz="2250" b="1" dirty="0" err="1">
                <a:solidFill>
                  <a:schemeClr val="bg1"/>
                </a:solidFill>
                <a:latin typeface="Microsoft YaHei" pitchFamily="34" charset="0"/>
                <a:ea typeface="Microsoft YaHei" pitchFamily="34" charset="-122"/>
                <a:cs typeface="Microsoft YaHei" pitchFamily="34" charset="-120"/>
              </a:rPr>
              <a:t>利用浏览器自动化技术</a:t>
            </a:r>
            <a:r>
              <a:rPr lang="en-US" altLang="zh-CN" sz="2400" dirty="0">
                <a:solidFill>
                  <a:schemeClr val="bg1"/>
                </a:solidFill>
              </a:rPr>
              <a:t> selenium </a:t>
            </a:r>
            <a:r>
              <a:rPr lang="en-US" sz="2250" b="1" dirty="0" err="1">
                <a:solidFill>
                  <a:schemeClr val="bg1"/>
                </a:solidFill>
                <a:latin typeface="Microsoft YaHei" pitchFamily="34" charset="0"/>
                <a:ea typeface="Microsoft YaHei" pitchFamily="34" charset="-122"/>
                <a:cs typeface="Microsoft YaHei" pitchFamily="34" charset="-120"/>
              </a:rPr>
              <a:t>精准获取微博热榜及评论区结构化数据</a:t>
            </a:r>
            <a:endParaRPr lang="en-US" sz="2250" dirty="0">
              <a:solidFill>
                <a:schemeClr val="bg1"/>
              </a:solidFill>
            </a:endParaRPr>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1027747" y="1906905"/>
            <a:ext cx="1076325" cy="285750"/>
          </a:xfrm>
          <a:prstGeom prst="rect">
            <a:avLst/>
          </a:prstGeom>
          <a:noFill/>
          <a:ln/>
        </p:spPr>
        <p:txBody>
          <a:bodyPr vert="horz" wrap="square" lIns="0" tIns="0" rIns="0" bIns="0" rtlCol="0" anchor="ctr"/>
          <a:lstStyle/>
          <a:p>
            <a:pPr marL="0" indent="0" algn="ctr">
              <a:lnSpc>
                <a:spcPts val="1950"/>
              </a:lnSpc>
              <a:buNone/>
            </a:pPr>
            <a:r>
              <a:rPr lang="en-US" sz="1350" b="1" dirty="0" err="1">
                <a:solidFill>
                  <a:srgbClr val="615CED"/>
                </a:solidFill>
                <a:latin typeface="Microsoft YaHei" pitchFamily="34" charset="0"/>
                <a:ea typeface="Microsoft YaHei" pitchFamily="34" charset="-122"/>
                <a:cs typeface="Microsoft YaHei" pitchFamily="34" charset="-120"/>
              </a:rPr>
              <a:t>微博数据采集</a:t>
            </a:r>
            <a:r>
              <a:rPr lang="zh-CN" altLang="en-US" sz="1350" b="1" dirty="0">
                <a:solidFill>
                  <a:srgbClr val="615CED"/>
                </a:solidFill>
                <a:latin typeface="Microsoft YaHei" pitchFamily="34" charset="0"/>
                <a:ea typeface="Microsoft YaHei" pitchFamily="34" charset="-122"/>
                <a:cs typeface="Microsoft YaHei" pitchFamily="34" charset="-120"/>
              </a:rPr>
              <a:t>难点</a:t>
            </a:r>
            <a:endParaRPr lang="en-US" sz="1350" dirty="0"/>
          </a:p>
        </p:txBody>
      </p:sp>
      <p:sp>
        <p:nvSpPr>
          <p:cNvPr id="9" name="Text 5"/>
          <p:cNvSpPr/>
          <p:nvPr/>
        </p:nvSpPr>
        <p:spPr>
          <a:xfrm>
            <a:off x="2392680" y="2068830"/>
            <a:ext cx="6179820" cy="247650"/>
          </a:xfrm>
          <a:prstGeom prst="rect">
            <a:avLst/>
          </a:prstGeom>
          <a:noFill/>
          <a:ln/>
        </p:spPr>
        <p:txBody>
          <a:bodyPr vert="horz" wrap="square" lIns="0" tIns="0" rIns="0" bIns="0" rtlCol="0" anchor="ctr"/>
          <a:lstStyle/>
          <a:p>
            <a:pPr fontAlgn="base"/>
            <a:r>
              <a:rPr lang="zh-CN" altLang="en-US" sz="1100" b="1" dirty="0"/>
              <a:t>内容动态化</a:t>
            </a:r>
            <a:r>
              <a:rPr lang="zh-CN" altLang="en-US" sz="1100" dirty="0"/>
              <a:t>：</a:t>
            </a:r>
            <a:r>
              <a:rPr lang="en-US" altLang="zh-CN" sz="1100" dirty="0"/>
              <a:t>HTML </a:t>
            </a:r>
            <a:r>
              <a:rPr lang="zh-CN" altLang="en-US" sz="1100" dirty="0"/>
              <a:t>仅返回空壳，微博、评论、点赞等核心数据靠后续 </a:t>
            </a:r>
            <a:r>
              <a:rPr lang="en-US" altLang="zh-CN" sz="1100" dirty="0"/>
              <a:t>Ajax JSON </a:t>
            </a:r>
            <a:r>
              <a:rPr lang="zh-CN" altLang="en-US" sz="1100" dirty="0"/>
              <a:t>接口填充，</a:t>
            </a:r>
            <a:r>
              <a:rPr lang="en-US" altLang="zh-CN" sz="1100" dirty="0"/>
              <a:t>requests </a:t>
            </a:r>
            <a:r>
              <a:rPr lang="zh-CN" altLang="en-US" sz="1100" dirty="0"/>
              <a:t>直接 </a:t>
            </a:r>
            <a:r>
              <a:rPr lang="en-US" altLang="zh-CN" sz="1100" dirty="0"/>
              <a:t>GET </a:t>
            </a:r>
            <a:r>
              <a:rPr lang="zh-CN" altLang="en-US" sz="1100" dirty="0"/>
              <a:t>只能拿到“骨架”。</a:t>
            </a:r>
          </a:p>
          <a:p>
            <a:pPr fontAlgn="base"/>
            <a:r>
              <a:rPr lang="zh-CN" altLang="en-US" sz="1100" b="1" dirty="0"/>
              <a:t>登录门槛高</a:t>
            </a:r>
            <a:r>
              <a:rPr lang="zh-CN" altLang="en-US" sz="1100" dirty="0"/>
              <a:t>：关键接口必须携带活体 </a:t>
            </a:r>
            <a:r>
              <a:rPr lang="en-US" altLang="zh-CN" sz="1100" dirty="0"/>
              <a:t>Cookie</a:t>
            </a:r>
            <a:r>
              <a:rPr lang="zh-CN" altLang="en-US" sz="1100" dirty="0"/>
              <a:t>（</a:t>
            </a:r>
            <a:r>
              <a:rPr lang="en-US" altLang="zh-CN" sz="1100" dirty="0"/>
              <a:t>SUB</a:t>
            </a:r>
            <a:r>
              <a:rPr lang="zh-CN" altLang="en-US" sz="1100" dirty="0"/>
              <a:t>、</a:t>
            </a:r>
            <a:r>
              <a:rPr lang="en-US" altLang="zh-CN" sz="1100" dirty="0"/>
              <a:t>X-</a:t>
            </a:r>
            <a:r>
              <a:rPr lang="en-US" altLang="zh-CN" sz="1100" dirty="0" err="1"/>
              <a:t>Xsrf</a:t>
            </a:r>
            <a:r>
              <a:rPr lang="en-US" altLang="zh-CN" sz="1100" dirty="0"/>
              <a:t>-Token</a:t>
            </a:r>
            <a:r>
              <a:rPr lang="zh-CN" altLang="en-US" sz="1100" dirty="0"/>
              <a:t>）及同源 </a:t>
            </a:r>
            <a:r>
              <a:rPr lang="en-US" altLang="zh-CN" sz="1100" dirty="0" err="1"/>
              <a:t>Referer</a:t>
            </a:r>
            <a:r>
              <a:rPr lang="zh-CN" altLang="en-US" sz="1100" dirty="0"/>
              <a:t>、真实 </a:t>
            </a:r>
            <a:r>
              <a:rPr lang="en-US" altLang="zh-CN" sz="1100" dirty="0"/>
              <a:t>UA</a:t>
            </a:r>
            <a:r>
              <a:rPr lang="zh-CN" altLang="en-US" sz="1100" dirty="0"/>
              <a:t>，缺失或过期即 </a:t>
            </a:r>
            <a:r>
              <a:rPr lang="en-US" altLang="zh-CN" sz="1100" dirty="0"/>
              <a:t>403</a:t>
            </a:r>
            <a:r>
              <a:rPr lang="zh-CN" altLang="en-US" sz="1100" dirty="0"/>
              <a:t>。</a:t>
            </a:r>
          </a:p>
          <a:p>
            <a:pPr fontAlgn="base"/>
            <a:r>
              <a:rPr lang="zh-CN" altLang="en-US" sz="1100" b="1" dirty="0"/>
              <a:t>反爬组合拳</a:t>
            </a:r>
            <a:r>
              <a:rPr lang="zh-CN" altLang="en-US" sz="1100" dirty="0"/>
              <a:t>：短频请求触发 </a:t>
            </a:r>
            <a:r>
              <a:rPr lang="en-US" altLang="zh-CN" sz="1100" dirty="0"/>
              <a:t>IP </a:t>
            </a:r>
            <a:r>
              <a:rPr lang="zh-CN" altLang="en-US" sz="1100" dirty="0"/>
              <a:t>封禁；</a:t>
            </a:r>
            <a:r>
              <a:rPr lang="en-US" altLang="zh-CN" sz="1100" dirty="0"/>
              <a:t>URL </a:t>
            </a:r>
            <a:r>
              <a:rPr lang="zh-CN" altLang="en-US" sz="1100" dirty="0"/>
              <a:t>带加密参数（</a:t>
            </a:r>
            <a:r>
              <a:rPr lang="en-US" altLang="zh-CN" sz="1100" dirty="0"/>
              <a:t>_</a:t>
            </a:r>
            <a:r>
              <a:rPr lang="en-US" altLang="zh-CN" sz="1100" dirty="0" err="1"/>
              <a:t>rnd</a:t>
            </a:r>
            <a:r>
              <a:rPr lang="zh-CN" altLang="en-US" sz="1100" dirty="0"/>
              <a:t>、</a:t>
            </a:r>
            <a:r>
              <a:rPr lang="en-US" altLang="zh-CN" sz="1100" dirty="0"/>
              <a:t>sig</a:t>
            </a:r>
            <a:r>
              <a:rPr lang="zh-CN" altLang="en-US" sz="1100" dirty="0"/>
              <a:t>、</a:t>
            </a:r>
            <a:r>
              <a:rPr lang="en-US" altLang="zh-CN" sz="1100" dirty="0" err="1"/>
              <a:t>st</a:t>
            </a:r>
            <a:r>
              <a:rPr lang="zh-CN" altLang="en-US" sz="1100" dirty="0"/>
              <a:t>）；后端还校验浏览器指纹，纯 </a:t>
            </a:r>
            <a:r>
              <a:rPr lang="en-US" altLang="zh-CN" sz="1100" dirty="0"/>
              <a:t>requests </a:t>
            </a:r>
            <a:r>
              <a:rPr lang="zh-CN" altLang="en-US" sz="1100" dirty="0"/>
              <a:t>难以模拟完整环境。</a:t>
            </a:r>
          </a:p>
        </p:txBody>
      </p:sp>
      <p:sp>
        <p:nvSpPr>
          <p:cNvPr id="26" name="Text 3">
            <a:extLst>
              <a:ext uri="{FF2B5EF4-FFF2-40B4-BE49-F238E27FC236}">
                <a16:creationId xmlns:a16="http://schemas.microsoft.com/office/drawing/2014/main" id="{D643C634-69DA-20D7-B563-B633C4174F2F}"/>
              </a:ext>
            </a:extLst>
          </p:cNvPr>
          <p:cNvSpPr/>
          <p:nvPr/>
        </p:nvSpPr>
        <p:spPr>
          <a:xfrm>
            <a:off x="1027746" y="3219451"/>
            <a:ext cx="1076325" cy="285750"/>
          </a:xfrm>
          <a:prstGeom prst="rect">
            <a:avLst/>
          </a:prstGeom>
          <a:noFill/>
          <a:ln/>
        </p:spPr>
        <p:txBody>
          <a:bodyPr vert="horz" wrap="square" lIns="0" tIns="0" rIns="0" bIns="0" rtlCol="0" anchor="ctr"/>
          <a:lstStyle/>
          <a:p>
            <a:pPr marL="0" indent="0" algn="ctr">
              <a:lnSpc>
                <a:spcPts val="1950"/>
              </a:lnSpc>
              <a:buNone/>
            </a:pPr>
            <a:r>
              <a:rPr lang="zh-CN" altLang="en-US" sz="1350" b="1" dirty="0">
                <a:solidFill>
                  <a:srgbClr val="615CED"/>
                </a:solidFill>
                <a:latin typeface="Microsoft YaHei" pitchFamily="34" charset="0"/>
                <a:ea typeface="Microsoft YaHei" pitchFamily="34" charset="-122"/>
                <a:cs typeface="Microsoft YaHei" pitchFamily="34" charset="-120"/>
              </a:rPr>
              <a:t>应对策略：</a:t>
            </a:r>
            <a:endParaRPr lang="en-US" altLang="zh-CN" sz="1350" b="1" dirty="0">
              <a:solidFill>
                <a:srgbClr val="615CED"/>
              </a:solidFill>
              <a:latin typeface="Microsoft YaHei" pitchFamily="34" charset="0"/>
              <a:ea typeface="Microsoft YaHei" pitchFamily="34" charset="-122"/>
              <a:cs typeface="Microsoft YaHei" pitchFamily="34" charset="-120"/>
            </a:endParaRPr>
          </a:p>
          <a:p>
            <a:pPr algn="ctr">
              <a:lnSpc>
                <a:spcPts val="1950"/>
              </a:lnSpc>
            </a:pPr>
            <a:r>
              <a:rPr lang="en-US" altLang="zh-CN" sz="1350" b="1" dirty="0">
                <a:solidFill>
                  <a:srgbClr val="615CED"/>
                </a:solidFill>
                <a:latin typeface="Microsoft YaHei" pitchFamily="34" charset="0"/>
                <a:ea typeface="Microsoft YaHei" pitchFamily="34" charset="-122"/>
              </a:rPr>
              <a:t>selenium</a:t>
            </a:r>
            <a:endParaRPr lang="en-US" sz="1350" b="1" dirty="0">
              <a:solidFill>
                <a:srgbClr val="615CED"/>
              </a:solidFill>
              <a:latin typeface="Microsoft YaHei" pitchFamily="34" charset="0"/>
              <a:ea typeface="Microsoft YaHei" pitchFamily="34" charset="-122"/>
            </a:endParaRPr>
          </a:p>
        </p:txBody>
      </p:sp>
      <p:sp>
        <p:nvSpPr>
          <p:cNvPr id="27" name="Text 5">
            <a:extLst>
              <a:ext uri="{FF2B5EF4-FFF2-40B4-BE49-F238E27FC236}">
                <a16:creationId xmlns:a16="http://schemas.microsoft.com/office/drawing/2014/main" id="{EB0AC73D-A35D-2494-3649-995B8DBBA6B5}"/>
              </a:ext>
            </a:extLst>
          </p:cNvPr>
          <p:cNvSpPr/>
          <p:nvPr/>
        </p:nvSpPr>
        <p:spPr>
          <a:xfrm>
            <a:off x="2331720" y="3257551"/>
            <a:ext cx="6179820" cy="247650"/>
          </a:xfrm>
          <a:prstGeom prst="rect">
            <a:avLst/>
          </a:prstGeom>
          <a:noFill/>
          <a:ln/>
        </p:spPr>
        <p:txBody>
          <a:bodyPr vert="horz" wrap="square" lIns="0" tIns="0" rIns="0" bIns="0" rtlCol="0" anchor="ctr"/>
          <a:lstStyle/>
          <a:p>
            <a:pPr fontAlgn="base"/>
            <a:endParaRPr lang="zh-CN" altLang="en-US" sz="1100" dirty="0"/>
          </a:p>
        </p:txBody>
      </p:sp>
      <p:sp>
        <p:nvSpPr>
          <p:cNvPr id="31" name="文本框 30">
            <a:extLst>
              <a:ext uri="{FF2B5EF4-FFF2-40B4-BE49-F238E27FC236}">
                <a16:creationId xmlns:a16="http://schemas.microsoft.com/office/drawing/2014/main" id="{26F00377-4A5C-8069-C968-87EE87D84F61}"/>
              </a:ext>
            </a:extLst>
          </p:cNvPr>
          <p:cNvSpPr txBox="1"/>
          <p:nvPr/>
        </p:nvSpPr>
        <p:spPr>
          <a:xfrm>
            <a:off x="2331720" y="2977605"/>
            <a:ext cx="5349240" cy="769441"/>
          </a:xfrm>
          <a:prstGeom prst="rect">
            <a:avLst/>
          </a:prstGeom>
          <a:noFill/>
        </p:spPr>
        <p:txBody>
          <a:bodyPr wrap="square" rtlCol="0">
            <a:spAutoFit/>
          </a:bodyPr>
          <a:lstStyle/>
          <a:p>
            <a:pPr fontAlgn="base"/>
            <a:r>
              <a:rPr lang="en-US" altLang="zh-CN" sz="1100" b="1" dirty="0"/>
              <a:t>requests</a:t>
            </a:r>
            <a:r>
              <a:rPr lang="zh-CN" altLang="en-US" sz="1100" dirty="0"/>
              <a:t> 难以爬取微博是因为其内容由 </a:t>
            </a:r>
            <a:r>
              <a:rPr lang="en-US" altLang="zh-CN" sz="1100" b="1" dirty="0"/>
              <a:t>JavaScript </a:t>
            </a:r>
            <a:r>
              <a:rPr lang="zh-CN" altLang="en-US" sz="1100" b="1" dirty="0"/>
              <a:t>动态加载</a:t>
            </a:r>
            <a:r>
              <a:rPr lang="zh-CN" altLang="en-US" sz="1100" dirty="0"/>
              <a:t>且依赖</a:t>
            </a:r>
            <a:r>
              <a:rPr lang="zh-CN" altLang="en-US" sz="1100" b="1" dirty="0"/>
              <a:t>复杂登录态</a:t>
            </a:r>
            <a:r>
              <a:rPr lang="zh-CN" altLang="en-US" sz="1100" dirty="0"/>
              <a:t>与</a:t>
            </a:r>
            <a:r>
              <a:rPr lang="zh-CN" altLang="en-US" sz="1100" b="1" dirty="0"/>
              <a:t>反爬机制</a:t>
            </a:r>
            <a:endParaRPr lang="en-US" altLang="zh-CN" sz="1100" dirty="0"/>
          </a:p>
          <a:p>
            <a:pPr fontAlgn="base"/>
            <a:r>
              <a:rPr lang="zh-CN" altLang="en-US" sz="1100" dirty="0"/>
              <a:t>而 </a:t>
            </a:r>
            <a:r>
              <a:rPr lang="en-US" altLang="zh-CN" sz="1100" b="1" dirty="0"/>
              <a:t>Selenium</a:t>
            </a:r>
            <a:r>
              <a:rPr lang="en-US" altLang="zh-CN" sz="1100" dirty="0"/>
              <a:t> </a:t>
            </a:r>
            <a:r>
              <a:rPr lang="zh-CN" altLang="en-US" sz="1100" dirty="0"/>
              <a:t>能</a:t>
            </a:r>
            <a:r>
              <a:rPr lang="zh-CN" altLang="en-US" sz="1100" b="1" dirty="0"/>
              <a:t>模拟真实</a:t>
            </a:r>
            <a:r>
              <a:rPr lang="zh-CN" altLang="en-US" sz="1100" dirty="0"/>
              <a:t>浏览器执行 </a:t>
            </a:r>
            <a:r>
              <a:rPr lang="en-US" altLang="zh-CN" sz="1100" dirty="0"/>
              <a:t>JS</a:t>
            </a:r>
            <a:r>
              <a:rPr lang="zh-CN" altLang="en-US" sz="1100" dirty="0"/>
              <a:t>、自动维护 </a:t>
            </a:r>
            <a:r>
              <a:rPr lang="en-US" altLang="zh-CN" sz="1100" dirty="0"/>
              <a:t>Cookie </a:t>
            </a:r>
            <a:r>
              <a:rPr lang="zh-CN" altLang="en-US" sz="1100" dirty="0"/>
              <a:t>和绕过部分行为检测，从而更可靠地获取动态渲染后的内容，但是代价就是耗时高</a:t>
            </a:r>
          </a:p>
        </p:txBody>
      </p:sp>
      <p:sp>
        <p:nvSpPr>
          <p:cNvPr id="32" name="Text 3">
            <a:extLst>
              <a:ext uri="{FF2B5EF4-FFF2-40B4-BE49-F238E27FC236}">
                <a16:creationId xmlns:a16="http://schemas.microsoft.com/office/drawing/2014/main" id="{7DE722A7-00A2-ED7A-0198-F155DCF05324}"/>
              </a:ext>
            </a:extLst>
          </p:cNvPr>
          <p:cNvSpPr/>
          <p:nvPr/>
        </p:nvSpPr>
        <p:spPr>
          <a:xfrm>
            <a:off x="1027747" y="4461511"/>
            <a:ext cx="1076325" cy="285750"/>
          </a:xfrm>
          <a:prstGeom prst="rect">
            <a:avLst/>
          </a:prstGeom>
          <a:noFill/>
          <a:ln/>
        </p:spPr>
        <p:txBody>
          <a:bodyPr vert="horz" wrap="square" lIns="0" tIns="0" rIns="0" bIns="0" rtlCol="0" anchor="ctr"/>
          <a:lstStyle/>
          <a:p>
            <a:pPr marL="0" indent="0" algn="ctr">
              <a:lnSpc>
                <a:spcPts val="1950"/>
              </a:lnSpc>
              <a:buNone/>
            </a:pPr>
            <a:r>
              <a:rPr lang="zh-CN" altLang="en-US" sz="1350" b="1" dirty="0">
                <a:solidFill>
                  <a:srgbClr val="615CED"/>
                </a:solidFill>
                <a:latin typeface="Microsoft YaHei" pitchFamily="34" charset="0"/>
                <a:ea typeface="Microsoft YaHei" pitchFamily="34" charset="-122"/>
                <a:cs typeface="Microsoft YaHei" pitchFamily="34" charset="-120"/>
              </a:rPr>
              <a:t>后期优化点</a:t>
            </a:r>
            <a:endParaRPr lang="en-US" sz="1350" b="1" dirty="0">
              <a:solidFill>
                <a:srgbClr val="615CED"/>
              </a:solidFill>
              <a:latin typeface="Microsoft YaHei" pitchFamily="34" charset="0"/>
              <a:ea typeface="Microsoft YaHei" pitchFamily="34" charset="-122"/>
            </a:endParaRPr>
          </a:p>
        </p:txBody>
      </p:sp>
      <p:sp>
        <p:nvSpPr>
          <p:cNvPr id="33" name="文本框 32">
            <a:extLst>
              <a:ext uri="{FF2B5EF4-FFF2-40B4-BE49-F238E27FC236}">
                <a16:creationId xmlns:a16="http://schemas.microsoft.com/office/drawing/2014/main" id="{5E24D7C7-AF97-B73D-3E77-53E263557F32}"/>
              </a:ext>
            </a:extLst>
          </p:cNvPr>
          <p:cNvSpPr txBox="1"/>
          <p:nvPr/>
        </p:nvSpPr>
        <p:spPr>
          <a:xfrm>
            <a:off x="2331720" y="4126410"/>
            <a:ext cx="5349240" cy="1492716"/>
          </a:xfrm>
          <a:prstGeom prst="rect">
            <a:avLst/>
          </a:prstGeom>
          <a:noFill/>
        </p:spPr>
        <p:txBody>
          <a:bodyPr wrap="square" rtlCol="0">
            <a:spAutoFit/>
          </a:bodyPr>
          <a:lstStyle/>
          <a:p>
            <a:pPr algn="l">
              <a:spcBef>
                <a:spcPts val="600"/>
              </a:spcBef>
              <a:spcAft>
                <a:spcPts val="600"/>
              </a:spcAft>
              <a:buFont typeface="Arial" panose="020B0604020202020204" pitchFamily="34" charset="0"/>
              <a:buChar char="•"/>
            </a:pPr>
            <a:r>
              <a:rPr lang="zh-CN" altLang="en-US" sz="1100" b="1" i="0" dirty="0">
                <a:effectLst/>
                <a:latin typeface="-apple-system"/>
              </a:rPr>
              <a:t>混合方案：</a:t>
            </a:r>
            <a:r>
              <a:rPr lang="en-US" altLang="zh-CN" sz="1100" b="1" i="0" dirty="0">
                <a:effectLst/>
                <a:latin typeface="-apple-system"/>
              </a:rPr>
              <a:t>Selenium </a:t>
            </a:r>
            <a:r>
              <a:rPr lang="zh-CN" altLang="en-US" sz="1100" b="1" i="0" dirty="0">
                <a:effectLst/>
                <a:latin typeface="-apple-system"/>
              </a:rPr>
              <a:t>登录 </a:t>
            </a:r>
            <a:r>
              <a:rPr lang="en-US" altLang="zh-CN" sz="1100" b="1" i="0" dirty="0">
                <a:effectLst/>
                <a:latin typeface="-apple-system"/>
              </a:rPr>
              <a:t>+ requests </a:t>
            </a:r>
            <a:r>
              <a:rPr lang="zh-CN" altLang="en-US" sz="1100" b="1" i="0" dirty="0">
                <a:effectLst/>
                <a:latin typeface="-apple-system"/>
              </a:rPr>
              <a:t>爬数据</a:t>
            </a:r>
            <a:r>
              <a:rPr lang="zh-CN" altLang="en-US" sz="1100" b="0" i="0" dirty="0">
                <a:effectLst/>
                <a:latin typeface="-apple-system"/>
              </a:rPr>
              <a:t>：仅用 </a:t>
            </a:r>
            <a:r>
              <a:rPr lang="en-US" altLang="zh-CN" sz="1100" b="0" i="0" dirty="0">
                <a:effectLst/>
                <a:latin typeface="-apple-system"/>
              </a:rPr>
              <a:t>Selenium </a:t>
            </a:r>
            <a:r>
              <a:rPr lang="zh-CN" altLang="en-US" sz="1100" b="0" i="0" dirty="0">
                <a:effectLst/>
                <a:latin typeface="-apple-system"/>
              </a:rPr>
              <a:t>获取有效 </a:t>
            </a:r>
            <a:r>
              <a:rPr lang="en-US" altLang="zh-CN" sz="1100" b="0" i="0" dirty="0">
                <a:effectLst/>
                <a:latin typeface="-apple-system"/>
              </a:rPr>
              <a:t>Cookie</a:t>
            </a:r>
            <a:r>
              <a:rPr lang="zh-CN" altLang="en-US" sz="1100" b="0" i="0" dirty="0">
                <a:effectLst/>
                <a:latin typeface="-apple-system"/>
              </a:rPr>
              <a:t>，后续用轻量 </a:t>
            </a:r>
            <a:r>
              <a:rPr lang="en-US" altLang="zh-CN" sz="1100" b="0" i="0" dirty="0">
                <a:effectLst/>
                <a:latin typeface="ui-monospace"/>
              </a:rPr>
              <a:t>requests</a:t>
            </a:r>
            <a:r>
              <a:rPr lang="en-US" altLang="zh-CN" sz="1100" b="0" i="0" dirty="0">
                <a:effectLst/>
                <a:latin typeface="-apple-system"/>
              </a:rPr>
              <a:t> </a:t>
            </a:r>
            <a:r>
              <a:rPr lang="zh-CN" altLang="en-US" sz="1100" b="0" i="0" dirty="0">
                <a:effectLst/>
                <a:latin typeface="-apple-system"/>
              </a:rPr>
              <a:t>调 </a:t>
            </a:r>
            <a:r>
              <a:rPr lang="en-US" altLang="zh-CN" sz="1100" b="0" i="0" dirty="0">
                <a:effectLst/>
                <a:latin typeface="-apple-system"/>
              </a:rPr>
              <a:t>API</a:t>
            </a:r>
            <a:r>
              <a:rPr lang="zh-CN" altLang="en-US" sz="1100" b="0" i="0" dirty="0">
                <a:effectLst/>
                <a:latin typeface="-apple-system"/>
              </a:rPr>
              <a:t>。</a:t>
            </a:r>
          </a:p>
          <a:p>
            <a:pPr algn="l">
              <a:spcBef>
                <a:spcPts val="600"/>
              </a:spcBef>
              <a:spcAft>
                <a:spcPts val="600"/>
              </a:spcAft>
              <a:buFont typeface="Arial" panose="020B0604020202020204" pitchFamily="34" charset="0"/>
              <a:buChar char="•"/>
            </a:pPr>
            <a:r>
              <a:rPr lang="zh-CN" altLang="en-US" sz="1100" b="1" i="0" dirty="0">
                <a:effectLst/>
                <a:latin typeface="-apple-system"/>
              </a:rPr>
              <a:t>使用显式等待替代 </a:t>
            </a:r>
            <a:r>
              <a:rPr lang="en-US" altLang="zh-CN" sz="1100" b="1" i="0" dirty="0">
                <a:effectLst/>
                <a:latin typeface="-apple-system"/>
              </a:rPr>
              <a:t>sleep</a:t>
            </a:r>
            <a:r>
              <a:rPr lang="zh-CN" altLang="en-US" sz="1100" b="0" i="0" dirty="0">
                <a:effectLst/>
                <a:latin typeface="-apple-system"/>
              </a:rPr>
              <a:t>：精准等待目标元素出现，避免固定延时造成的浪费。</a:t>
            </a:r>
            <a:endParaRPr lang="en-US" altLang="zh-CN" sz="1100" b="0" i="0" dirty="0">
              <a:effectLst/>
              <a:latin typeface="-apple-system"/>
            </a:endParaRPr>
          </a:p>
          <a:p>
            <a:pPr algn="l">
              <a:spcBef>
                <a:spcPts val="600"/>
              </a:spcBef>
              <a:spcAft>
                <a:spcPts val="600"/>
              </a:spcAft>
              <a:buFont typeface="Arial" panose="020B0604020202020204" pitchFamily="34" charset="0"/>
              <a:buChar char="•"/>
            </a:pPr>
            <a:r>
              <a:rPr lang="zh-CN" altLang="en-US" sz="1100" b="1" i="0" dirty="0">
                <a:effectLst/>
                <a:latin typeface="-apple-system"/>
              </a:rPr>
              <a:t>禁用图片和媒体加载</a:t>
            </a:r>
            <a:r>
              <a:rPr lang="zh-CN" altLang="en-US" sz="1100" b="0" i="0" dirty="0">
                <a:effectLst/>
                <a:latin typeface="-apple-system"/>
              </a:rPr>
              <a:t>：通过 </a:t>
            </a:r>
            <a:r>
              <a:rPr lang="en-US" altLang="zh-CN" sz="1100" b="0" i="0" dirty="0">
                <a:effectLst/>
                <a:latin typeface="-apple-system"/>
              </a:rPr>
              <a:t>Chrome </a:t>
            </a:r>
            <a:r>
              <a:rPr lang="zh-CN" altLang="en-US" sz="1100" b="0" i="0" dirty="0">
                <a:effectLst/>
                <a:latin typeface="-apple-system"/>
              </a:rPr>
              <a:t>选项屏蔽图片、视频等非必要资源，加快页面加载。</a:t>
            </a:r>
          </a:p>
          <a:p>
            <a:pPr fontAlgn="base"/>
            <a:endParaRPr lang="zh-CN" alt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训练集与测试集：</a:t>
            </a:r>
            <a:r>
              <a:rPr lang="en-US" altLang="zh-CN" sz="2250" b="1" dirty="0" err="1">
                <a:solidFill>
                  <a:srgbClr val="333333"/>
                </a:solidFill>
                <a:latin typeface="Microsoft YaHei" pitchFamily="34" charset="0"/>
                <a:ea typeface="Microsoft YaHei" pitchFamily="34" charset="-122"/>
                <a:cs typeface="Microsoft YaHei" pitchFamily="34" charset="-120"/>
              </a:rPr>
              <a:t>Mindespace</a:t>
            </a:r>
            <a:r>
              <a:rPr lang="zh-CN" altLang="en-US" sz="2250" b="1" dirty="0">
                <a:solidFill>
                  <a:srgbClr val="333333"/>
                </a:solidFill>
                <a:latin typeface="Microsoft YaHei" pitchFamily="34" charset="0"/>
                <a:ea typeface="Microsoft YaHei" pitchFamily="34" charset="-122"/>
                <a:cs typeface="Microsoft YaHei" pitchFamily="34" charset="-120"/>
              </a:rPr>
              <a:t>十万</a:t>
            </a:r>
            <a:r>
              <a:rPr lang="en-US" altLang="zh-CN" sz="2250" b="1" dirty="0">
                <a:solidFill>
                  <a:srgbClr val="333333"/>
                </a:solidFill>
                <a:latin typeface="Microsoft YaHei" pitchFamily="34" charset="0"/>
                <a:ea typeface="Microsoft YaHei" pitchFamily="34" charset="-122"/>
                <a:cs typeface="Microsoft YaHei" pitchFamily="34" charset="-120"/>
              </a:rPr>
              <a:t>+</a:t>
            </a:r>
            <a:r>
              <a:rPr lang="zh-CN" altLang="en-US" sz="2250" b="1" dirty="0">
                <a:solidFill>
                  <a:srgbClr val="333333"/>
                </a:solidFill>
                <a:latin typeface="Microsoft YaHei" pitchFamily="34" charset="0"/>
                <a:ea typeface="Microsoft YaHei" pitchFamily="34" charset="-122"/>
                <a:cs typeface="Microsoft YaHei" pitchFamily="34" charset="-120"/>
              </a:rPr>
              <a:t>数据，</a:t>
            </a:r>
            <a:r>
              <a:rPr lang="en-US" sz="2250" b="1" dirty="0" err="1">
                <a:solidFill>
                  <a:srgbClr val="333333"/>
                </a:solidFill>
                <a:latin typeface="Microsoft YaHei" pitchFamily="34" charset="0"/>
                <a:ea typeface="Microsoft YaHei" pitchFamily="34" charset="-122"/>
                <a:cs typeface="Microsoft YaHei" pitchFamily="34" charset="-120"/>
              </a:rPr>
              <a:t>构建高质量训练语料库</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1847850"/>
            <a:ext cx="2781151" cy="2547938"/>
          </a:xfrm>
          <a:prstGeom prst="rect">
            <a:avLst/>
          </a:prstGeom>
        </p:spPr>
      </p:pic>
      <p:sp>
        <p:nvSpPr>
          <p:cNvPr id="7" name="Text 3"/>
          <p:cNvSpPr/>
          <p:nvPr/>
        </p:nvSpPr>
        <p:spPr>
          <a:xfrm>
            <a:off x="752475" y="2628900"/>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语料规模</a:t>
            </a:r>
            <a:endParaRPr lang="en-US" sz="1200" dirty="0"/>
          </a:p>
        </p:txBody>
      </p:sp>
      <p:sp>
        <p:nvSpPr>
          <p:cNvPr id="8" name="Text 4"/>
          <p:cNvSpPr/>
          <p:nvPr/>
        </p:nvSpPr>
        <p:spPr>
          <a:xfrm>
            <a:off x="752475" y="2919412"/>
            <a:ext cx="2076301" cy="10858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构建覆盖百万级已标注微博文本的高质量语料库，确保数据量充足以支撑深度学习模型训练。大规模语料有助于提升模型泛化能力与情感识别稳定性。</a:t>
            </a:r>
            <a:endParaRPr lang="en-US" sz="1050" dirty="0"/>
          </a:p>
        </p:txBody>
      </p:sp>
      <p:pic>
        <p:nvPicPr>
          <p:cNvPr id="9" name="Image 2" descr="preencoded.png"/>
          <p:cNvPicPr>
            <a:picLocks noChangeAspect="1"/>
          </p:cNvPicPr>
          <p:nvPr/>
        </p:nvPicPr>
        <p:blipFill>
          <a:blip r:embed="rId5"/>
          <a:srcRect/>
          <a:stretch/>
        </p:blipFill>
        <p:spPr>
          <a:xfrm>
            <a:off x="3181201" y="1847850"/>
            <a:ext cx="2781151" cy="2547938"/>
          </a:xfrm>
          <a:prstGeom prst="rect">
            <a:avLst/>
          </a:prstGeom>
        </p:spPr>
      </p:pic>
      <p:sp>
        <p:nvSpPr>
          <p:cNvPr id="10" name="Text 5"/>
          <p:cNvSpPr/>
          <p:nvPr/>
        </p:nvSpPr>
        <p:spPr>
          <a:xfrm>
            <a:off x="3533626" y="2628900"/>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标注体系</a:t>
            </a:r>
            <a:endParaRPr lang="en-US" sz="1200" dirty="0"/>
          </a:p>
        </p:txBody>
      </p:sp>
      <p:sp>
        <p:nvSpPr>
          <p:cNvPr id="11" name="Text 6"/>
          <p:cNvSpPr/>
          <p:nvPr/>
        </p:nvSpPr>
        <p:spPr>
          <a:xfrm>
            <a:off x="3533626" y="2919412"/>
            <a:ext cx="2076301" cy="10858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采用细粒度情感标签体系，涵盖正面、负面、中性及多层级情感强度标注。统一标注标准保障数据一致性，提升模型分类精度与实际适用性。</a:t>
            </a:r>
            <a:endParaRPr lang="en-US" sz="1050" dirty="0"/>
          </a:p>
        </p:txBody>
      </p:sp>
      <p:pic>
        <p:nvPicPr>
          <p:cNvPr id="12" name="Image 3" descr="preencoded.png"/>
          <p:cNvPicPr>
            <a:picLocks noChangeAspect="1"/>
          </p:cNvPicPr>
          <p:nvPr/>
        </p:nvPicPr>
        <p:blipFill>
          <a:blip r:embed="rId6"/>
          <a:srcRect/>
          <a:stretch/>
        </p:blipFill>
        <p:spPr>
          <a:xfrm>
            <a:off x="5962352" y="1847850"/>
            <a:ext cx="2781151" cy="2547938"/>
          </a:xfrm>
          <a:prstGeom prst="rect">
            <a:avLst/>
          </a:prstGeom>
        </p:spPr>
      </p:pic>
      <p:sp>
        <p:nvSpPr>
          <p:cNvPr id="13" name="Text 7"/>
          <p:cNvSpPr/>
          <p:nvPr/>
        </p:nvSpPr>
        <p:spPr>
          <a:xfrm>
            <a:off x="6314777" y="2628900"/>
            <a:ext cx="2076301"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多样性覆盖</a:t>
            </a:r>
            <a:endParaRPr lang="en-US" sz="1200" dirty="0"/>
          </a:p>
        </p:txBody>
      </p:sp>
      <p:sp>
        <p:nvSpPr>
          <p:cNvPr id="14" name="Text 8"/>
          <p:cNvSpPr/>
          <p:nvPr/>
        </p:nvSpPr>
        <p:spPr>
          <a:xfrm>
            <a:off x="6314777" y="2919412"/>
            <a:ext cx="2076301" cy="10858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语料涵盖社会热点、娱乐、体育、科技等多元话题场景，充分反映网络用语特征与公众情绪分布。增强模型对不同领域情感表达的适应能力。</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858250"/>
          </a:xfrm>
          <a:prstGeom prst="rect">
            <a:avLst/>
          </a:prstGeom>
          <a:solidFill>
            <a:srgbClr val="FFFFFF"/>
          </a:solidFill>
          <a:ln/>
        </p:spPr>
      </p:sp>
      <p:pic>
        <p:nvPicPr>
          <p:cNvPr id="3" name="Image 0" descr="preencoded.png"/>
          <p:cNvPicPr>
            <a:picLocks noChangeAspect="1"/>
          </p:cNvPicPr>
          <p:nvPr/>
        </p:nvPicPr>
        <p:blipFill>
          <a:blip r:embed="rId3"/>
          <a:srcRect l="20968" r="20968"/>
          <a:stretch/>
        </p:blipFill>
        <p:spPr>
          <a:xfrm>
            <a:off x="0" y="0"/>
            <a:ext cx="9144000" cy="885825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数据清洗：</a:t>
            </a:r>
            <a:r>
              <a:rPr lang="en-US" sz="2250" b="1" dirty="0" err="1">
                <a:solidFill>
                  <a:srgbClr val="333333"/>
                </a:solidFill>
                <a:latin typeface="Microsoft YaHei" pitchFamily="34" charset="0"/>
                <a:ea typeface="Microsoft YaHei" pitchFamily="34" charset="-122"/>
                <a:cs typeface="Microsoft YaHei" pitchFamily="34" charset="-120"/>
              </a:rPr>
              <a:t>实施多阶段清洗流程，剔除噪声信息如表情符号、URL链接与无关话题标签</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7" name="Text 3"/>
          <p:cNvSpPr/>
          <p:nvPr/>
        </p:nvSpPr>
        <p:spPr>
          <a:xfrm>
            <a:off x="506730" y="1514415"/>
            <a:ext cx="15240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噪声类型</a:t>
            </a:r>
            <a:endParaRPr lang="en-US" sz="1200" dirty="0"/>
          </a:p>
        </p:txBody>
      </p:sp>
      <p:sp>
        <p:nvSpPr>
          <p:cNvPr id="8" name="Text 4"/>
          <p:cNvSpPr/>
          <p:nvPr/>
        </p:nvSpPr>
        <p:spPr>
          <a:xfrm>
            <a:off x="2019300" y="1409700"/>
            <a:ext cx="5695950" cy="57531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微博文本</a:t>
            </a:r>
            <a:r>
              <a:rPr lang="en-US" sz="1050" b="1" dirty="0">
                <a:solidFill>
                  <a:srgbClr val="666666"/>
                </a:solidFill>
                <a:latin typeface="Microsoft YaHei" pitchFamily="34" charset="0"/>
                <a:ea typeface="Microsoft YaHei" pitchFamily="34" charset="-122"/>
                <a:cs typeface="Microsoft YaHei" pitchFamily="34" charset="-120"/>
              </a:rPr>
              <a:t>包含大量噪声</a:t>
            </a:r>
            <a:r>
              <a:rPr lang="en-US" sz="1050" dirty="0">
                <a:solidFill>
                  <a:srgbClr val="666666"/>
                </a:solidFill>
                <a:latin typeface="Microsoft YaHei" pitchFamily="34" charset="0"/>
                <a:ea typeface="Microsoft YaHei" pitchFamily="34" charset="-122"/>
                <a:cs typeface="Microsoft YaHei" pitchFamily="34" charset="-120"/>
              </a:rPr>
              <a:t>，如表情符号、URL链接、@提及和话题标签。这些非文本内容干扰语义理解，需在预处理阶段精准识别并清除，以提升后续分析准确性。</a:t>
            </a:r>
            <a:endParaRPr lang="en-US" sz="1050" dirty="0"/>
          </a:p>
        </p:txBody>
      </p:sp>
      <p:sp>
        <p:nvSpPr>
          <p:cNvPr id="10" name="Text 5"/>
          <p:cNvSpPr/>
          <p:nvPr/>
        </p:nvSpPr>
        <p:spPr>
          <a:xfrm>
            <a:off x="506730" y="2129790"/>
            <a:ext cx="15240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清洗流程</a:t>
            </a:r>
            <a:endParaRPr lang="en-US" sz="1200" dirty="0"/>
          </a:p>
        </p:txBody>
      </p:sp>
      <p:sp>
        <p:nvSpPr>
          <p:cNvPr id="11" name="Text 6"/>
          <p:cNvSpPr/>
          <p:nvPr/>
        </p:nvSpPr>
        <p:spPr>
          <a:xfrm>
            <a:off x="2030730" y="1478280"/>
            <a:ext cx="5558790" cy="1466850"/>
          </a:xfrm>
          <a:prstGeom prst="rect">
            <a:avLst/>
          </a:prstGeom>
          <a:noFill/>
          <a:ln/>
        </p:spPr>
        <p:txBody>
          <a:bodyPr vert="horz" wrap="square" lIns="0" tIns="0" rIns="0" bIns="0" rtlCol="0" anchor="ctr"/>
          <a:lstStyle/>
          <a:p>
            <a:pPr marL="0" indent="0" algn="ctr">
              <a:lnSpc>
                <a:spcPts val="1650"/>
              </a:lnSpc>
              <a:buNone/>
            </a:pPr>
            <a:r>
              <a:rPr lang="en-US" sz="1050" dirty="0" err="1">
                <a:solidFill>
                  <a:srgbClr val="666666"/>
                </a:solidFill>
                <a:latin typeface="Microsoft YaHei" pitchFamily="34" charset="0"/>
                <a:ea typeface="Microsoft YaHei" pitchFamily="34" charset="-122"/>
                <a:cs typeface="Microsoft YaHei" pitchFamily="34" charset="-120"/>
              </a:rPr>
              <a:t>采用</a:t>
            </a:r>
            <a:r>
              <a:rPr lang="en-US" sz="1050" b="1" dirty="0" err="1">
                <a:solidFill>
                  <a:srgbClr val="666666"/>
                </a:solidFill>
                <a:latin typeface="Microsoft YaHei" pitchFamily="34" charset="0"/>
                <a:ea typeface="Microsoft YaHei" pitchFamily="34" charset="-122"/>
                <a:cs typeface="Microsoft YaHei" pitchFamily="34" charset="-120"/>
              </a:rPr>
              <a:t>多阶段清洗</a:t>
            </a:r>
            <a:r>
              <a:rPr lang="en-US" sz="1050" dirty="0" err="1">
                <a:solidFill>
                  <a:srgbClr val="666666"/>
                </a:solidFill>
                <a:latin typeface="Microsoft YaHei" pitchFamily="34" charset="0"/>
                <a:ea typeface="Microsoft YaHei" pitchFamily="34" charset="-122"/>
                <a:cs typeface="Microsoft YaHei" pitchFamily="34" charset="-120"/>
              </a:rPr>
              <a:t>策略，依次去除HTML标签、特殊字符、冗余空白</a:t>
            </a:r>
            <a:r>
              <a:rPr lang="zh-CN" altLang="en-US" sz="1050" dirty="0">
                <a:solidFill>
                  <a:srgbClr val="666666"/>
                </a:solidFill>
                <a:latin typeface="Microsoft YaHei" pitchFamily="34" charset="0"/>
                <a:ea typeface="Microsoft YaHei" pitchFamily="34" charset="-122"/>
                <a:cs typeface="Microsoft YaHei" pitchFamily="34" charset="-120"/>
              </a:rPr>
              <a:t>、</a:t>
            </a:r>
            <a:r>
              <a:rPr lang="en-US" sz="1050" dirty="0" err="1">
                <a:solidFill>
                  <a:srgbClr val="666666"/>
                </a:solidFill>
                <a:latin typeface="Microsoft YaHei" pitchFamily="34" charset="0"/>
                <a:ea typeface="Microsoft YaHei" pitchFamily="34" charset="-122"/>
                <a:cs typeface="Microsoft YaHei" pitchFamily="34" charset="-120"/>
              </a:rPr>
              <a:t>无效符号</a:t>
            </a:r>
            <a:r>
              <a:rPr lang="zh-CN" altLang="en-US" sz="1050" dirty="0">
                <a:solidFill>
                  <a:srgbClr val="666666"/>
                </a:solidFill>
                <a:latin typeface="Microsoft YaHei" pitchFamily="34" charset="0"/>
                <a:ea typeface="Microsoft YaHei" pitchFamily="34" charset="-122"/>
                <a:cs typeface="Microsoft YaHei" pitchFamily="34" charset="-120"/>
              </a:rPr>
              <a:t>、无关话题，重复表情符去重</a:t>
            </a:r>
            <a:r>
              <a:rPr lang="en-US" sz="1050" dirty="0">
                <a:solidFill>
                  <a:srgbClr val="666666"/>
                </a:solidFill>
                <a:latin typeface="Microsoft YaHei" pitchFamily="34" charset="0"/>
                <a:ea typeface="Microsoft YaHei" pitchFamily="34" charset="-122"/>
                <a:cs typeface="Microsoft YaHei" pitchFamily="34" charset="-120"/>
              </a:rPr>
              <a:t>。结合正则表达式与规则引擎，确保清洗过程高效且可复用，保障数据一致性。</a:t>
            </a:r>
            <a:endParaRPr lang="en-US" sz="1050" dirty="0"/>
          </a:p>
        </p:txBody>
      </p:sp>
      <p:sp>
        <p:nvSpPr>
          <p:cNvPr id="16" name="Text 9"/>
          <p:cNvSpPr/>
          <p:nvPr/>
        </p:nvSpPr>
        <p:spPr>
          <a:xfrm>
            <a:off x="506730" y="2762190"/>
            <a:ext cx="1524000" cy="209550"/>
          </a:xfrm>
          <a:prstGeom prst="rect">
            <a:avLst/>
          </a:prstGeom>
          <a:noFill/>
          <a:ln/>
        </p:spPr>
        <p:txBody>
          <a:bodyPr vert="horz" wrap="square" lIns="0" tIns="0" rIns="0" bIns="0" rtlCol="0" anchor="ctr"/>
          <a:lstStyle/>
          <a:p>
            <a:pPr marL="0" indent="0" algn="ctr">
              <a:lnSpc>
                <a:spcPts val="1650"/>
              </a:lnSpc>
              <a:buNone/>
            </a:pPr>
            <a:r>
              <a:rPr lang="zh-CN" altLang="en-US" sz="1200" b="1" dirty="0">
                <a:solidFill>
                  <a:srgbClr val="333333"/>
                </a:solidFill>
                <a:latin typeface="Microsoft YaHei" pitchFamily="34" charset="0"/>
                <a:ea typeface="Microsoft YaHei" pitchFamily="34" charset="-122"/>
                <a:cs typeface="Microsoft YaHei" pitchFamily="34" charset="-120"/>
              </a:rPr>
              <a:t>后期优化点</a:t>
            </a:r>
            <a:endParaRPr lang="en-US" sz="1200" dirty="0"/>
          </a:p>
        </p:txBody>
      </p:sp>
      <p:sp>
        <p:nvSpPr>
          <p:cNvPr id="17" name="Text 10"/>
          <p:cNvSpPr/>
          <p:nvPr/>
        </p:nvSpPr>
        <p:spPr>
          <a:xfrm>
            <a:off x="1897380" y="2194500"/>
            <a:ext cx="5913120" cy="1466850"/>
          </a:xfrm>
          <a:prstGeom prst="rect">
            <a:avLst/>
          </a:prstGeom>
          <a:noFill/>
          <a:ln/>
        </p:spPr>
        <p:txBody>
          <a:bodyPr vert="horz" wrap="square" lIns="0" tIns="0" rIns="0" bIns="0" rtlCol="0" anchor="ctr"/>
          <a:lstStyle/>
          <a:p>
            <a:pPr marL="0" indent="0" algn="ctr">
              <a:lnSpc>
                <a:spcPts val="1650"/>
              </a:lnSpc>
              <a:buNone/>
            </a:pPr>
            <a:r>
              <a:rPr lang="en-US" sz="1050" dirty="0" err="1">
                <a:solidFill>
                  <a:srgbClr val="666666"/>
                </a:solidFill>
                <a:latin typeface="Microsoft YaHei" pitchFamily="34" charset="0"/>
                <a:ea typeface="Microsoft YaHei" pitchFamily="34" charset="-122"/>
                <a:cs typeface="Microsoft YaHei" pitchFamily="34" charset="-120"/>
              </a:rPr>
              <a:t>针对</a:t>
            </a:r>
            <a:r>
              <a:rPr lang="en-US" sz="1050" b="1" dirty="0" err="1">
                <a:solidFill>
                  <a:srgbClr val="666666"/>
                </a:solidFill>
                <a:latin typeface="Microsoft YaHei" pitchFamily="34" charset="0"/>
                <a:ea typeface="Microsoft YaHei" pitchFamily="34" charset="-122"/>
                <a:cs typeface="Microsoft YaHei" pitchFamily="34" charset="-120"/>
              </a:rPr>
              <a:t>中文网络用语特点</a:t>
            </a:r>
            <a:r>
              <a:rPr lang="en-US" sz="1050" dirty="0" err="1">
                <a:solidFill>
                  <a:srgbClr val="666666"/>
                </a:solidFill>
                <a:latin typeface="Microsoft YaHei" pitchFamily="34" charset="0"/>
                <a:ea typeface="Microsoft YaHei" pitchFamily="34" charset="-122"/>
                <a:cs typeface="Microsoft YaHei" pitchFamily="34" charset="-120"/>
              </a:rPr>
              <a:t>，</a:t>
            </a:r>
            <a:r>
              <a:rPr lang="en-US" sz="1050" b="1" dirty="0" err="1">
                <a:solidFill>
                  <a:srgbClr val="666666"/>
                </a:solidFill>
                <a:latin typeface="Microsoft YaHei" pitchFamily="34" charset="0"/>
                <a:ea typeface="Microsoft YaHei" pitchFamily="34" charset="-122"/>
                <a:cs typeface="Microsoft YaHei" pitchFamily="34" charset="-120"/>
              </a:rPr>
              <a:t>处理缩写、谐音</a:t>
            </a:r>
            <a:r>
              <a:rPr lang="en-US" sz="1050" dirty="0" err="1">
                <a:solidFill>
                  <a:srgbClr val="666666"/>
                </a:solidFill>
                <a:latin typeface="Microsoft YaHei" pitchFamily="34" charset="0"/>
                <a:ea typeface="Microsoft YaHei" pitchFamily="34" charset="-122"/>
                <a:cs typeface="Microsoft YaHei" pitchFamily="34" charset="-120"/>
              </a:rPr>
              <a:t>等表达形式</a:t>
            </a:r>
            <a:r>
              <a:rPr lang="zh-CN" altLang="en-US" sz="1050" dirty="0">
                <a:solidFill>
                  <a:srgbClr val="666666"/>
                </a:solidFill>
                <a:latin typeface="Microsoft YaHei" pitchFamily="34" charset="0"/>
                <a:ea typeface="Microsoft YaHei" pitchFamily="34" charset="-122"/>
                <a:cs typeface="Microsoft YaHei" pitchFamily="34" charset="-120"/>
              </a:rPr>
              <a:t>，叠词已处理</a:t>
            </a:r>
            <a:r>
              <a:rPr lang="en-US" sz="1050" dirty="0">
                <a:solidFill>
                  <a:srgbClr val="666666"/>
                </a:solidFill>
                <a:latin typeface="Microsoft YaHei" pitchFamily="34" charset="0"/>
                <a:ea typeface="Microsoft YaHei" pitchFamily="34" charset="-122"/>
                <a:cs typeface="Microsoft YaHei" pitchFamily="34" charset="-120"/>
              </a:rPr>
              <a:t>。结合</a:t>
            </a:r>
            <a:r>
              <a:rPr lang="en-US" sz="1050" b="1" dirty="0">
                <a:solidFill>
                  <a:srgbClr val="666666"/>
                </a:solidFill>
                <a:latin typeface="Microsoft YaHei" pitchFamily="34" charset="0"/>
                <a:ea typeface="Microsoft YaHei" pitchFamily="34" charset="-122"/>
                <a:cs typeface="Microsoft YaHei" pitchFamily="34" charset="-120"/>
              </a:rPr>
              <a:t>停用词表与自定义规则</a:t>
            </a:r>
            <a:r>
              <a:rPr lang="en-US" sz="1050" dirty="0">
                <a:solidFill>
                  <a:srgbClr val="666666"/>
                </a:solidFill>
                <a:latin typeface="Microsoft YaHei" pitchFamily="34" charset="0"/>
                <a:ea typeface="Microsoft YaHei" pitchFamily="34" charset="-122"/>
                <a:cs typeface="Microsoft YaHei" pitchFamily="34" charset="-120"/>
              </a:rPr>
              <a:t>，识别并标准化‘yyds’、‘破防’等流行语，降低歧义率。</a:t>
            </a:r>
            <a:endParaRPr lang="en-US" sz="1050" dirty="0"/>
          </a:p>
        </p:txBody>
      </p:sp>
      <p:pic>
        <p:nvPicPr>
          <p:cNvPr id="22" name="图片 21" descr="屏幕上有字&#10;&#10;AI 生成的内容可能不正确。">
            <a:extLst>
              <a:ext uri="{FF2B5EF4-FFF2-40B4-BE49-F238E27FC236}">
                <a16:creationId xmlns:a16="http://schemas.microsoft.com/office/drawing/2014/main" id="{F563462E-7062-5525-A7C2-04A44241D535}"/>
              </a:ext>
            </a:extLst>
          </p:cNvPr>
          <p:cNvPicPr>
            <a:picLocks noChangeAspect="1"/>
          </p:cNvPicPr>
          <p:nvPr/>
        </p:nvPicPr>
        <p:blipFill>
          <a:blip r:embed="rId4"/>
          <a:stretch>
            <a:fillRect/>
          </a:stretch>
        </p:blipFill>
        <p:spPr>
          <a:xfrm>
            <a:off x="1502195" y="3425010"/>
            <a:ext cx="6087325" cy="17147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CCD45-E3B1-8901-F599-3F7CEAC0EE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D6CC50-04BD-1384-068F-65B449FC5647}"/>
              </a:ext>
            </a:extLst>
          </p:cNvPr>
          <p:cNvSpPr/>
          <p:nvPr/>
        </p:nvSpPr>
        <p:spPr>
          <a:xfrm>
            <a:off x="0" y="0"/>
            <a:ext cx="9144000" cy="8858250"/>
          </a:xfrm>
          <a:prstGeom prst="rect">
            <a:avLst/>
          </a:prstGeom>
          <a:solidFill>
            <a:srgbClr val="FFFFFF"/>
          </a:solidFill>
          <a:ln/>
        </p:spPr>
      </p:sp>
      <p:pic>
        <p:nvPicPr>
          <p:cNvPr id="3" name="Image 0" descr="preencoded.png">
            <a:extLst>
              <a:ext uri="{FF2B5EF4-FFF2-40B4-BE49-F238E27FC236}">
                <a16:creationId xmlns:a16="http://schemas.microsoft.com/office/drawing/2014/main" id="{96760130-7064-F840-4DAF-007AD4FB3EED}"/>
              </a:ext>
            </a:extLst>
          </p:cNvPr>
          <p:cNvPicPr>
            <a:picLocks noChangeAspect="1"/>
          </p:cNvPicPr>
          <p:nvPr/>
        </p:nvPicPr>
        <p:blipFill>
          <a:blip r:embed="rId3"/>
          <a:srcRect l="20968" r="20968"/>
          <a:stretch/>
        </p:blipFill>
        <p:spPr>
          <a:xfrm>
            <a:off x="0" y="0"/>
            <a:ext cx="9144000" cy="8858250"/>
          </a:xfrm>
          <a:prstGeom prst="rect">
            <a:avLst/>
          </a:prstGeom>
        </p:spPr>
      </p:pic>
      <p:sp>
        <p:nvSpPr>
          <p:cNvPr id="4" name="Text 1">
            <a:extLst>
              <a:ext uri="{FF2B5EF4-FFF2-40B4-BE49-F238E27FC236}">
                <a16:creationId xmlns:a16="http://schemas.microsoft.com/office/drawing/2014/main" id="{FE269139-4F32-9ED4-CA64-879849E6007A}"/>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清理效果：词频统计曲线更加平滑</a:t>
            </a:r>
            <a:endParaRPr lang="en-US" sz="2250" dirty="0"/>
          </a:p>
        </p:txBody>
      </p:sp>
      <p:sp>
        <p:nvSpPr>
          <p:cNvPr id="5" name="Text 2">
            <a:extLst>
              <a:ext uri="{FF2B5EF4-FFF2-40B4-BE49-F238E27FC236}">
                <a16:creationId xmlns:a16="http://schemas.microsoft.com/office/drawing/2014/main" id="{081C396D-67BC-54FB-81A1-0D93BBCC354C}"/>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20" name="Text 12">
            <a:extLst>
              <a:ext uri="{FF2B5EF4-FFF2-40B4-BE49-F238E27FC236}">
                <a16:creationId xmlns:a16="http://schemas.microsoft.com/office/drawing/2014/main" id="{9764D98A-2656-4A55-3322-2EB5B3041CE1}"/>
              </a:ext>
            </a:extLst>
          </p:cNvPr>
          <p:cNvSpPr/>
          <p:nvPr/>
        </p:nvSpPr>
        <p:spPr>
          <a:xfrm>
            <a:off x="666750" y="7315200"/>
            <a:ext cx="1524000" cy="12573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清洗后进行数据质量抽样检验，统计有效文本占比与语义完整性。通过人工标注小样本验证清洗效果，确保预处理环节不丢失关键情感信息。</a:t>
            </a:r>
            <a:endParaRPr lang="en-US" sz="1050" dirty="0"/>
          </a:p>
        </p:txBody>
      </p:sp>
      <p:pic>
        <p:nvPicPr>
          <p:cNvPr id="22" name="图片 21" descr="图表&#10;&#10;AI 生成的内容可能不正确。">
            <a:extLst>
              <a:ext uri="{FF2B5EF4-FFF2-40B4-BE49-F238E27FC236}">
                <a16:creationId xmlns:a16="http://schemas.microsoft.com/office/drawing/2014/main" id="{0838D7EB-A5C8-119C-DFC2-5318A575AFC3}"/>
              </a:ext>
            </a:extLst>
          </p:cNvPr>
          <p:cNvPicPr>
            <a:picLocks noChangeAspect="1"/>
          </p:cNvPicPr>
          <p:nvPr/>
        </p:nvPicPr>
        <p:blipFill>
          <a:blip r:embed="rId4"/>
          <a:stretch>
            <a:fillRect/>
          </a:stretch>
        </p:blipFill>
        <p:spPr>
          <a:xfrm>
            <a:off x="3276600" y="3141345"/>
            <a:ext cx="4274820" cy="2137410"/>
          </a:xfrm>
          <a:prstGeom prst="rect">
            <a:avLst/>
          </a:prstGeom>
        </p:spPr>
      </p:pic>
      <p:pic>
        <p:nvPicPr>
          <p:cNvPr id="28" name="图片 27" descr="图表, 折线图&#10;&#10;AI 生成的内容可能不正确。">
            <a:extLst>
              <a:ext uri="{FF2B5EF4-FFF2-40B4-BE49-F238E27FC236}">
                <a16:creationId xmlns:a16="http://schemas.microsoft.com/office/drawing/2014/main" id="{1B2363EB-E0E3-1ADB-DDF1-31C806F08636}"/>
              </a:ext>
            </a:extLst>
          </p:cNvPr>
          <p:cNvPicPr>
            <a:picLocks noChangeAspect="1"/>
          </p:cNvPicPr>
          <p:nvPr/>
        </p:nvPicPr>
        <p:blipFill>
          <a:blip r:embed="rId5"/>
          <a:stretch>
            <a:fillRect/>
          </a:stretch>
        </p:blipFill>
        <p:spPr>
          <a:xfrm>
            <a:off x="3276600" y="933450"/>
            <a:ext cx="4274820" cy="2137410"/>
          </a:xfrm>
          <a:prstGeom prst="rect">
            <a:avLst/>
          </a:prstGeom>
        </p:spPr>
      </p:pic>
      <p:sp>
        <p:nvSpPr>
          <p:cNvPr id="29" name="Text 3">
            <a:extLst>
              <a:ext uri="{FF2B5EF4-FFF2-40B4-BE49-F238E27FC236}">
                <a16:creationId xmlns:a16="http://schemas.microsoft.com/office/drawing/2014/main" id="{E5409565-BD74-928D-5BDC-E64E9F7ECE7F}"/>
              </a:ext>
            </a:extLst>
          </p:cNvPr>
          <p:cNvSpPr/>
          <p:nvPr/>
        </p:nvSpPr>
        <p:spPr>
          <a:xfrm>
            <a:off x="922020" y="1798260"/>
            <a:ext cx="1524000" cy="209550"/>
          </a:xfrm>
          <a:prstGeom prst="rect">
            <a:avLst/>
          </a:prstGeom>
          <a:noFill/>
          <a:ln/>
        </p:spPr>
        <p:txBody>
          <a:bodyPr vert="horz" wrap="square" lIns="0" tIns="0" rIns="0" bIns="0" rtlCol="0" anchor="ctr"/>
          <a:lstStyle/>
          <a:p>
            <a:pPr marL="0" indent="0" algn="ctr">
              <a:lnSpc>
                <a:spcPts val="1650"/>
              </a:lnSpc>
              <a:buNone/>
            </a:pPr>
            <a:r>
              <a:rPr lang="zh-CN" altLang="en-US" sz="1200" b="1" dirty="0"/>
              <a:t>清洗前</a:t>
            </a:r>
            <a:endParaRPr lang="en-US" sz="1200" b="1" dirty="0"/>
          </a:p>
        </p:txBody>
      </p:sp>
      <p:sp>
        <p:nvSpPr>
          <p:cNvPr id="30" name="Text 3">
            <a:extLst>
              <a:ext uri="{FF2B5EF4-FFF2-40B4-BE49-F238E27FC236}">
                <a16:creationId xmlns:a16="http://schemas.microsoft.com/office/drawing/2014/main" id="{C532A700-D122-1613-49B8-544C884F47B4}"/>
              </a:ext>
            </a:extLst>
          </p:cNvPr>
          <p:cNvSpPr/>
          <p:nvPr/>
        </p:nvSpPr>
        <p:spPr>
          <a:xfrm>
            <a:off x="922020" y="4019550"/>
            <a:ext cx="1524000" cy="209550"/>
          </a:xfrm>
          <a:prstGeom prst="rect">
            <a:avLst/>
          </a:prstGeom>
          <a:noFill/>
          <a:ln/>
        </p:spPr>
        <p:txBody>
          <a:bodyPr vert="horz" wrap="square" lIns="0" tIns="0" rIns="0" bIns="0" rtlCol="0" anchor="ctr"/>
          <a:lstStyle/>
          <a:p>
            <a:pPr marL="0" indent="0" algn="ctr">
              <a:lnSpc>
                <a:spcPts val="1650"/>
              </a:lnSpc>
              <a:buNone/>
            </a:pPr>
            <a:r>
              <a:rPr lang="zh-CN" altLang="en-US" sz="1200" b="1" dirty="0"/>
              <a:t>清洗后</a:t>
            </a:r>
            <a:endParaRPr lang="en-US" sz="1200" b="1" dirty="0"/>
          </a:p>
        </p:txBody>
      </p:sp>
    </p:spTree>
    <p:extLst>
      <p:ext uri="{BB962C8B-B14F-4D97-AF65-F5344CB8AC3E}">
        <p14:creationId xmlns:p14="http://schemas.microsoft.com/office/powerpoint/2010/main" val="1713636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0DA0F-6A64-4725-6BA3-D5B8F656EE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703F9C-195D-43B3-EBD2-5DCCA7C73078}"/>
              </a:ext>
            </a:extLst>
          </p:cNvPr>
          <p:cNvSpPr/>
          <p:nvPr/>
        </p:nvSpPr>
        <p:spPr>
          <a:xfrm>
            <a:off x="0" y="0"/>
            <a:ext cx="9144000" cy="8858250"/>
          </a:xfrm>
          <a:prstGeom prst="rect">
            <a:avLst/>
          </a:prstGeom>
          <a:solidFill>
            <a:srgbClr val="FFFFFF"/>
          </a:solidFill>
          <a:ln/>
        </p:spPr>
      </p:sp>
      <p:pic>
        <p:nvPicPr>
          <p:cNvPr id="3" name="Image 0" descr="preencoded.png">
            <a:extLst>
              <a:ext uri="{FF2B5EF4-FFF2-40B4-BE49-F238E27FC236}">
                <a16:creationId xmlns:a16="http://schemas.microsoft.com/office/drawing/2014/main" id="{8F7DAB84-E2A3-07D1-30EA-787FCB0E7861}"/>
              </a:ext>
            </a:extLst>
          </p:cNvPr>
          <p:cNvPicPr>
            <a:picLocks noChangeAspect="1"/>
          </p:cNvPicPr>
          <p:nvPr/>
        </p:nvPicPr>
        <p:blipFill>
          <a:blip r:embed="rId3"/>
          <a:srcRect l="20968" r="20968"/>
          <a:stretch/>
        </p:blipFill>
        <p:spPr>
          <a:xfrm>
            <a:off x="0" y="0"/>
            <a:ext cx="9144000" cy="8858250"/>
          </a:xfrm>
          <a:prstGeom prst="rect">
            <a:avLst/>
          </a:prstGeom>
        </p:spPr>
      </p:pic>
      <p:sp>
        <p:nvSpPr>
          <p:cNvPr id="4" name="Text 1">
            <a:extLst>
              <a:ext uri="{FF2B5EF4-FFF2-40B4-BE49-F238E27FC236}">
                <a16:creationId xmlns:a16="http://schemas.microsoft.com/office/drawing/2014/main" id="{91744139-4DA9-5C5A-BE5A-58BDD48956EC}"/>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数据分析：为后期做准备，</a:t>
            </a:r>
            <a:r>
              <a:rPr lang="en-US" altLang="zh-CN" sz="2250" b="1" dirty="0">
                <a:solidFill>
                  <a:srgbClr val="333333"/>
                </a:solidFill>
                <a:latin typeface="Microsoft YaHei" pitchFamily="34" charset="0"/>
                <a:ea typeface="Microsoft YaHei" pitchFamily="34" charset="-122"/>
                <a:cs typeface="Microsoft YaHei" pitchFamily="34" charset="-120"/>
              </a:rPr>
              <a:t>128tokens</a:t>
            </a:r>
            <a:r>
              <a:rPr lang="zh-CN" altLang="en-US" sz="2250" b="1" dirty="0">
                <a:solidFill>
                  <a:srgbClr val="333333"/>
                </a:solidFill>
                <a:latin typeface="Microsoft YaHei" pitchFamily="34" charset="0"/>
                <a:ea typeface="Microsoft YaHei" pitchFamily="34" charset="-122"/>
                <a:cs typeface="Microsoft YaHei" pitchFamily="34" charset="-120"/>
              </a:rPr>
              <a:t>覆盖率提升</a:t>
            </a:r>
            <a:endParaRPr lang="en-US" sz="2250" dirty="0"/>
          </a:p>
        </p:txBody>
      </p:sp>
      <p:sp>
        <p:nvSpPr>
          <p:cNvPr id="5" name="Text 2">
            <a:extLst>
              <a:ext uri="{FF2B5EF4-FFF2-40B4-BE49-F238E27FC236}">
                <a16:creationId xmlns:a16="http://schemas.microsoft.com/office/drawing/2014/main" id="{4C94D8A1-4FD3-5142-C89A-AE63BA220324}"/>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20" name="Text 12">
            <a:extLst>
              <a:ext uri="{FF2B5EF4-FFF2-40B4-BE49-F238E27FC236}">
                <a16:creationId xmlns:a16="http://schemas.microsoft.com/office/drawing/2014/main" id="{F011E142-2A97-40F9-13A2-970FBCD1A3FA}"/>
              </a:ext>
            </a:extLst>
          </p:cNvPr>
          <p:cNvSpPr/>
          <p:nvPr/>
        </p:nvSpPr>
        <p:spPr>
          <a:xfrm>
            <a:off x="666750" y="7315200"/>
            <a:ext cx="1524000" cy="12573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清洗后进行数据质量抽样检验，统计有效文本占比与语义完整性。通过人工标注小样本验证清洗效果，确保预处理环节不丢失关键情感信息。</a:t>
            </a:r>
            <a:endParaRPr lang="en-US" sz="1050" dirty="0"/>
          </a:p>
        </p:txBody>
      </p:sp>
      <p:sp>
        <p:nvSpPr>
          <p:cNvPr id="29" name="Text 3">
            <a:extLst>
              <a:ext uri="{FF2B5EF4-FFF2-40B4-BE49-F238E27FC236}">
                <a16:creationId xmlns:a16="http://schemas.microsoft.com/office/drawing/2014/main" id="{5740DB5C-20C0-3D06-EC3D-D12ECC3A1224}"/>
              </a:ext>
            </a:extLst>
          </p:cNvPr>
          <p:cNvSpPr/>
          <p:nvPr/>
        </p:nvSpPr>
        <p:spPr>
          <a:xfrm>
            <a:off x="1428750" y="990600"/>
            <a:ext cx="1524000" cy="209550"/>
          </a:xfrm>
          <a:prstGeom prst="rect">
            <a:avLst/>
          </a:prstGeom>
          <a:noFill/>
          <a:ln/>
        </p:spPr>
        <p:txBody>
          <a:bodyPr vert="horz" wrap="square" lIns="0" tIns="0" rIns="0" bIns="0" rtlCol="0" anchor="ctr"/>
          <a:lstStyle/>
          <a:p>
            <a:pPr marL="0" indent="0" algn="ctr">
              <a:lnSpc>
                <a:spcPts val="1650"/>
              </a:lnSpc>
              <a:buNone/>
            </a:pPr>
            <a:r>
              <a:rPr lang="zh-CN" altLang="en-US" sz="1200" b="1" dirty="0"/>
              <a:t>清洗前</a:t>
            </a:r>
            <a:endParaRPr lang="en-US" sz="1200" b="1" dirty="0"/>
          </a:p>
        </p:txBody>
      </p:sp>
      <p:sp>
        <p:nvSpPr>
          <p:cNvPr id="30" name="Text 3">
            <a:extLst>
              <a:ext uri="{FF2B5EF4-FFF2-40B4-BE49-F238E27FC236}">
                <a16:creationId xmlns:a16="http://schemas.microsoft.com/office/drawing/2014/main" id="{B3B8482F-DB4A-85CB-98E8-3571DC59DE24}"/>
              </a:ext>
            </a:extLst>
          </p:cNvPr>
          <p:cNvSpPr/>
          <p:nvPr/>
        </p:nvSpPr>
        <p:spPr>
          <a:xfrm>
            <a:off x="5684520" y="1162050"/>
            <a:ext cx="1524000" cy="209550"/>
          </a:xfrm>
          <a:prstGeom prst="rect">
            <a:avLst/>
          </a:prstGeom>
          <a:noFill/>
          <a:ln/>
        </p:spPr>
        <p:txBody>
          <a:bodyPr vert="horz" wrap="square" lIns="0" tIns="0" rIns="0" bIns="0" rtlCol="0" anchor="ctr"/>
          <a:lstStyle/>
          <a:p>
            <a:pPr marL="0" indent="0" algn="ctr">
              <a:lnSpc>
                <a:spcPts val="1650"/>
              </a:lnSpc>
              <a:buNone/>
            </a:pPr>
            <a:r>
              <a:rPr lang="zh-CN" altLang="en-US" sz="1200" b="1" dirty="0"/>
              <a:t>清洗后</a:t>
            </a:r>
            <a:endParaRPr lang="en-US" sz="1200" b="1" dirty="0"/>
          </a:p>
        </p:txBody>
      </p:sp>
      <p:pic>
        <p:nvPicPr>
          <p:cNvPr id="7" name="图片 6" descr="文本&#10;&#10;AI 生成的内容可能不正确。">
            <a:extLst>
              <a:ext uri="{FF2B5EF4-FFF2-40B4-BE49-F238E27FC236}">
                <a16:creationId xmlns:a16="http://schemas.microsoft.com/office/drawing/2014/main" id="{D7727E94-97EC-96BC-694D-CBC1C9D96575}"/>
              </a:ext>
            </a:extLst>
          </p:cNvPr>
          <p:cNvPicPr>
            <a:picLocks noChangeAspect="1"/>
          </p:cNvPicPr>
          <p:nvPr/>
        </p:nvPicPr>
        <p:blipFill>
          <a:blip r:embed="rId4"/>
          <a:stretch>
            <a:fillRect/>
          </a:stretch>
        </p:blipFill>
        <p:spPr>
          <a:xfrm>
            <a:off x="5052060" y="1468229"/>
            <a:ext cx="2742054" cy="3675271"/>
          </a:xfrm>
          <a:prstGeom prst="rect">
            <a:avLst/>
          </a:prstGeom>
        </p:spPr>
      </p:pic>
      <p:pic>
        <p:nvPicPr>
          <p:cNvPr id="9" name="图片 8" descr="文本&#10;&#10;AI 生成的内容可能不正确。">
            <a:extLst>
              <a:ext uri="{FF2B5EF4-FFF2-40B4-BE49-F238E27FC236}">
                <a16:creationId xmlns:a16="http://schemas.microsoft.com/office/drawing/2014/main" id="{7843A096-B3F9-C300-3D4D-49CFEF236065}"/>
              </a:ext>
            </a:extLst>
          </p:cNvPr>
          <p:cNvPicPr>
            <a:picLocks noChangeAspect="1"/>
          </p:cNvPicPr>
          <p:nvPr/>
        </p:nvPicPr>
        <p:blipFill>
          <a:blip r:embed="rId5"/>
          <a:stretch>
            <a:fillRect/>
          </a:stretch>
        </p:blipFill>
        <p:spPr>
          <a:xfrm>
            <a:off x="1009660" y="1295400"/>
            <a:ext cx="2511926" cy="3882569"/>
          </a:xfrm>
          <a:prstGeom prst="rect">
            <a:avLst/>
          </a:prstGeom>
        </p:spPr>
      </p:pic>
    </p:spTree>
    <p:extLst>
      <p:ext uri="{BB962C8B-B14F-4D97-AF65-F5344CB8AC3E}">
        <p14:creationId xmlns:p14="http://schemas.microsoft.com/office/powerpoint/2010/main" val="1384094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模型选型与词表构建</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03</a:t>
            </a:r>
            <a:endParaRPr lang="en-US" sz="2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333333"/>
                </a:solidFill>
                <a:latin typeface="Microsoft YaHei" pitchFamily="34" charset="0"/>
                <a:ea typeface="Microsoft YaHei" pitchFamily="34" charset="-122"/>
                <a:cs typeface="Microsoft YaHei" pitchFamily="34" charset="-120"/>
              </a:rPr>
              <a:t>TextCNN</a:t>
            </a:r>
            <a:r>
              <a:rPr lang="en-US" sz="2250" b="1" dirty="0">
                <a:solidFill>
                  <a:srgbClr val="333333"/>
                </a:solidFill>
                <a:latin typeface="Microsoft YaHei" pitchFamily="34" charset="0"/>
                <a:ea typeface="Microsoft YaHei" pitchFamily="34" charset="-122"/>
                <a:cs typeface="Microsoft YaHei" pitchFamily="34" charset="-120"/>
              </a:rPr>
              <a:t> &amp; </a:t>
            </a:r>
            <a:r>
              <a:rPr lang="en-US" altLang="zh-CN" sz="2250" b="1" dirty="0" err="1">
                <a:solidFill>
                  <a:srgbClr val="333333"/>
                </a:solidFill>
                <a:latin typeface="Microsoft YaHei" pitchFamily="34" charset="0"/>
                <a:ea typeface="Microsoft YaHei" pitchFamily="34" charset="-122"/>
                <a:cs typeface="Microsoft YaHei" pitchFamily="34" charset="-120"/>
              </a:rPr>
              <a:t>BiRNN</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descr="图片包含 图形用户界面&#10;&#10;AI 生成的内容可能不正确。">
            <a:extLst>
              <a:ext uri="{FF2B5EF4-FFF2-40B4-BE49-F238E27FC236}">
                <a16:creationId xmlns:a16="http://schemas.microsoft.com/office/drawing/2014/main" id="{73B9032D-782E-DF7B-B9C5-212DC8BB0E14}"/>
              </a:ext>
            </a:extLst>
          </p:cNvPr>
          <p:cNvPicPr>
            <a:picLocks noChangeAspect="1"/>
          </p:cNvPicPr>
          <p:nvPr/>
        </p:nvPicPr>
        <p:blipFill>
          <a:blip r:embed="rId4"/>
          <a:stretch>
            <a:fillRect/>
          </a:stretch>
        </p:blipFill>
        <p:spPr>
          <a:xfrm>
            <a:off x="1242548" y="1247775"/>
            <a:ext cx="6658904" cy="2324424"/>
          </a:xfrm>
          <a:prstGeom prst="rect">
            <a:avLst/>
          </a:prstGeom>
        </p:spPr>
      </p:pic>
      <p:sp>
        <p:nvSpPr>
          <p:cNvPr id="21" name="文本框 20">
            <a:extLst>
              <a:ext uri="{FF2B5EF4-FFF2-40B4-BE49-F238E27FC236}">
                <a16:creationId xmlns:a16="http://schemas.microsoft.com/office/drawing/2014/main" id="{88353FC4-F001-99D9-495D-731BF153C844}"/>
              </a:ext>
            </a:extLst>
          </p:cNvPr>
          <p:cNvSpPr txBox="1"/>
          <p:nvPr/>
        </p:nvSpPr>
        <p:spPr>
          <a:xfrm>
            <a:off x="998220" y="4000500"/>
            <a:ext cx="7193280" cy="646331"/>
          </a:xfrm>
          <a:prstGeom prst="rect">
            <a:avLst/>
          </a:prstGeom>
          <a:noFill/>
        </p:spPr>
        <p:txBody>
          <a:bodyPr wrap="square">
            <a:spAutoFit/>
          </a:bodyPr>
          <a:lstStyle/>
          <a:p>
            <a:r>
              <a:rPr lang="zh-CN" altLang="en-US" i="0" dirty="0">
                <a:effectLst/>
                <a:latin typeface="-apple-system"/>
              </a:rPr>
              <a:t>虽然</a:t>
            </a:r>
            <a:r>
              <a:rPr lang="en-US" altLang="zh-CN" i="0" dirty="0">
                <a:effectLst/>
                <a:latin typeface="-apple-system"/>
              </a:rPr>
              <a:t>Transformer </a:t>
            </a:r>
            <a:r>
              <a:rPr lang="zh-CN" altLang="en-US" i="0" dirty="0">
                <a:effectLst/>
                <a:latin typeface="-apple-system"/>
              </a:rPr>
              <a:t>更强、更快、更适合大规模预训练</a:t>
            </a:r>
            <a:r>
              <a:rPr lang="zh-CN" altLang="en-US" dirty="0">
                <a:latin typeface="-apple-system"/>
              </a:rPr>
              <a:t>，但</a:t>
            </a:r>
            <a:r>
              <a:rPr lang="zh-CN" altLang="en-US" b="1" dirty="0">
                <a:latin typeface="-apple-system"/>
              </a:rPr>
              <a:t>前两种模型更轻量，适合短句小任务，性能更好，开销更少</a:t>
            </a:r>
            <a:endParaRPr lang="zh-CN" altLang="en-US"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0E17391B-B57E-4265-6CE7-5AF18EFC9F27}"/>
              </a:ext>
            </a:extLst>
          </p:cNvPr>
          <p:cNvPicPr>
            <a:picLocks noChangeAspect="1"/>
          </p:cNvPicPr>
          <p:nvPr/>
        </p:nvPicPr>
        <p:blipFill>
          <a:blip r:embed="rId2"/>
          <a:stretch>
            <a:fillRect/>
          </a:stretch>
        </p:blipFill>
        <p:spPr>
          <a:xfrm>
            <a:off x="1824126" y="327660"/>
            <a:ext cx="5048217" cy="4488180"/>
          </a:xfrm>
          <a:prstGeom prst="rect">
            <a:avLst/>
          </a:prstGeom>
        </p:spPr>
      </p:pic>
      <p:sp>
        <p:nvSpPr>
          <p:cNvPr id="4" name="Text 1">
            <a:extLst>
              <a:ext uri="{FF2B5EF4-FFF2-40B4-BE49-F238E27FC236}">
                <a16:creationId xmlns:a16="http://schemas.microsoft.com/office/drawing/2014/main" id="{61680AFC-B696-A514-DAB4-940C4987A21A}"/>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altLang="zh-CN" sz="2250" b="1" dirty="0" err="1">
                <a:solidFill>
                  <a:srgbClr val="333333"/>
                </a:solidFill>
                <a:latin typeface="Microsoft YaHei" pitchFamily="34" charset="0"/>
                <a:ea typeface="Microsoft YaHei" pitchFamily="34" charset="-122"/>
                <a:cs typeface="Microsoft YaHei" pitchFamily="34" charset="-120"/>
              </a:rPr>
              <a:t>BiRNN</a:t>
            </a:r>
            <a:endParaRPr lang="en-US" sz="2250" dirty="0"/>
          </a:p>
        </p:txBody>
      </p:sp>
    </p:spTree>
    <p:extLst>
      <p:ext uri="{BB962C8B-B14F-4D97-AF65-F5344CB8AC3E}">
        <p14:creationId xmlns:p14="http://schemas.microsoft.com/office/powerpoint/2010/main" val="2587277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文本&#10;&#10;AI 生成的内容可能不正确。">
            <a:extLst>
              <a:ext uri="{FF2B5EF4-FFF2-40B4-BE49-F238E27FC236}">
                <a16:creationId xmlns:a16="http://schemas.microsoft.com/office/drawing/2014/main" id="{14245E80-DA9E-2BEA-245C-636D221310C5}"/>
              </a:ext>
            </a:extLst>
          </p:cNvPr>
          <p:cNvPicPr>
            <a:picLocks noChangeAspect="1"/>
          </p:cNvPicPr>
          <p:nvPr/>
        </p:nvPicPr>
        <p:blipFill>
          <a:blip r:embed="rId2"/>
          <a:stretch>
            <a:fillRect/>
          </a:stretch>
        </p:blipFill>
        <p:spPr>
          <a:xfrm>
            <a:off x="1917290" y="0"/>
            <a:ext cx="5309419" cy="5143500"/>
          </a:xfrm>
          <a:prstGeom prst="rect">
            <a:avLst/>
          </a:prstGeom>
        </p:spPr>
      </p:pic>
      <p:sp>
        <p:nvSpPr>
          <p:cNvPr id="4" name="Text 1">
            <a:extLst>
              <a:ext uri="{FF2B5EF4-FFF2-40B4-BE49-F238E27FC236}">
                <a16:creationId xmlns:a16="http://schemas.microsoft.com/office/drawing/2014/main" id="{BBE1A8E6-1C75-A061-7812-B1F09F49CB92}"/>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333333"/>
                </a:solidFill>
                <a:latin typeface="Microsoft YaHei" pitchFamily="34" charset="0"/>
                <a:ea typeface="Microsoft YaHei" pitchFamily="34" charset="-122"/>
                <a:cs typeface="Microsoft YaHei" pitchFamily="34" charset="-120"/>
              </a:rPr>
              <a:t>TextCNN</a:t>
            </a:r>
            <a:endParaRPr lang="en-US" sz="2250" dirty="0"/>
          </a:p>
        </p:txBody>
      </p:sp>
    </p:spTree>
    <p:extLst>
      <p:ext uri="{BB962C8B-B14F-4D97-AF65-F5344CB8AC3E}">
        <p14:creationId xmlns:p14="http://schemas.microsoft.com/office/powerpoint/2010/main" val="1759653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7625" y="1143000"/>
            <a:ext cx="9144000" cy="6191250"/>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FFFFFF"/>
                </a:solidFill>
                <a:latin typeface="Microsoft YaHei" pitchFamily="34" charset="0"/>
                <a:ea typeface="Microsoft YaHei" pitchFamily="34" charset="-122"/>
                <a:cs typeface="Microsoft YaHei" pitchFamily="34" charset="-120"/>
              </a:rPr>
              <a:t>设计统一词汇映射体系，通过频次过滤与低频词归并构建紧凑高效词表</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048000" y="1799272"/>
            <a:ext cx="476250" cy="476250"/>
          </a:xfrm>
          <a:prstGeom prst="rect">
            <a:avLst/>
          </a:prstGeom>
        </p:spPr>
      </p:pic>
      <p:sp>
        <p:nvSpPr>
          <p:cNvPr id="7" name="Text 3"/>
          <p:cNvSpPr/>
          <p:nvPr/>
        </p:nvSpPr>
        <p:spPr>
          <a:xfrm>
            <a:off x="2428875" y="2389822"/>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词表构建目标</a:t>
            </a:r>
            <a:endParaRPr lang="en-US" sz="1200" dirty="0"/>
          </a:p>
        </p:txBody>
      </p:sp>
      <p:sp>
        <p:nvSpPr>
          <p:cNvPr id="8" name="Text 4"/>
          <p:cNvSpPr/>
          <p:nvPr/>
        </p:nvSpPr>
        <p:spPr>
          <a:xfrm>
            <a:off x="2428875" y="2637472"/>
            <a:ext cx="1714500" cy="12573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构建统一词汇映射体系，旨在提升模型对中文微博文本的语义理解能力。通过标准化词语表示，降低输入维度，增强模型训练效率与泛化性能。</a:t>
            </a:r>
            <a:endParaRPr lang="en-US" sz="1050" dirty="0"/>
          </a:p>
        </p:txBody>
      </p:sp>
      <p:pic>
        <p:nvPicPr>
          <p:cNvPr id="9" name="Image 2" descr="preencoded.png"/>
          <p:cNvPicPr>
            <a:picLocks noChangeAspect="1"/>
          </p:cNvPicPr>
          <p:nvPr/>
        </p:nvPicPr>
        <p:blipFill>
          <a:blip r:embed="rId5"/>
          <a:srcRect/>
          <a:stretch/>
        </p:blipFill>
        <p:spPr>
          <a:xfrm>
            <a:off x="5143500" y="1799272"/>
            <a:ext cx="476250" cy="476250"/>
          </a:xfrm>
          <a:prstGeom prst="rect">
            <a:avLst/>
          </a:prstGeom>
        </p:spPr>
      </p:pic>
      <p:sp>
        <p:nvSpPr>
          <p:cNvPr id="10" name="Text 5"/>
          <p:cNvSpPr/>
          <p:nvPr/>
        </p:nvSpPr>
        <p:spPr>
          <a:xfrm>
            <a:off x="4524375" y="2389822"/>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高频词筛选</a:t>
            </a:r>
            <a:endParaRPr lang="en-US" sz="1200" dirty="0"/>
          </a:p>
        </p:txBody>
      </p:sp>
      <p:sp>
        <p:nvSpPr>
          <p:cNvPr id="11" name="Text 6"/>
          <p:cNvSpPr/>
          <p:nvPr/>
        </p:nvSpPr>
        <p:spPr>
          <a:xfrm>
            <a:off x="4524375" y="2637472"/>
            <a:ext cx="1714500" cy="1047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基于百万级标注语料统计词频，保留出现频率较高的核心词汇。高频词更稳定地反映情感倾向，有助于捕捉公众情绪的关键表达。</a:t>
            </a:r>
            <a:endParaRPr lang="en-US" sz="1050" dirty="0"/>
          </a:p>
        </p:txBody>
      </p:sp>
      <p:pic>
        <p:nvPicPr>
          <p:cNvPr id="12" name="Image 3" descr="preencoded.png"/>
          <p:cNvPicPr>
            <a:picLocks noChangeAspect="1"/>
          </p:cNvPicPr>
          <p:nvPr/>
        </p:nvPicPr>
        <p:blipFill>
          <a:blip r:embed="rId6"/>
          <a:srcRect/>
          <a:stretch/>
        </p:blipFill>
        <p:spPr>
          <a:xfrm>
            <a:off x="7239000" y="1799272"/>
            <a:ext cx="476250" cy="476250"/>
          </a:xfrm>
          <a:prstGeom prst="rect">
            <a:avLst/>
          </a:prstGeom>
        </p:spPr>
      </p:pic>
      <p:sp>
        <p:nvSpPr>
          <p:cNvPr id="13" name="Text 7"/>
          <p:cNvSpPr/>
          <p:nvPr/>
        </p:nvSpPr>
        <p:spPr>
          <a:xfrm>
            <a:off x="6619875" y="2389822"/>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低频词归并</a:t>
            </a:r>
            <a:endParaRPr lang="en-US" sz="1200" dirty="0"/>
          </a:p>
        </p:txBody>
      </p:sp>
      <p:sp>
        <p:nvSpPr>
          <p:cNvPr id="14" name="Text 8"/>
          <p:cNvSpPr/>
          <p:nvPr/>
        </p:nvSpPr>
        <p:spPr>
          <a:xfrm>
            <a:off x="6619875" y="2637472"/>
            <a:ext cx="1714500" cy="125730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将出现次数低于阈值的词语统一映射为“&lt;UNK&gt;”标记，减少噪声干扰。该策略有效缓解数据稀疏问题，提升模型对未登录词的鲁棒性。</a:t>
            </a:r>
            <a:endParaRPr lang="en-US" sz="1050" dirty="0"/>
          </a:p>
        </p:txBody>
      </p:sp>
      <p:pic>
        <p:nvPicPr>
          <p:cNvPr id="15" name="Image 4" descr="preencoded.png"/>
          <p:cNvPicPr>
            <a:picLocks noChangeAspect="1"/>
          </p:cNvPicPr>
          <p:nvPr/>
        </p:nvPicPr>
        <p:blipFill>
          <a:blip r:embed="rId7"/>
          <a:srcRect/>
          <a:stretch/>
        </p:blipFill>
        <p:spPr>
          <a:xfrm>
            <a:off x="6381750" y="3922395"/>
            <a:ext cx="476250" cy="476250"/>
          </a:xfrm>
          <a:prstGeom prst="rect">
            <a:avLst/>
          </a:prstGeom>
        </p:spPr>
      </p:pic>
      <p:sp>
        <p:nvSpPr>
          <p:cNvPr id="16" name="Text 9"/>
          <p:cNvSpPr/>
          <p:nvPr/>
        </p:nvSpPr>
        <p:spPr>
          <a:xfrm>
            <a:off x="5762625" y="4512945"/>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停用词优化</a:t>
            </a:r>
            <a:endParaRPr lang="en-US" sz="1200" dirty="0"/>
          </a:p>
        </p:txBody>
      </p:sp>
      <p:sp>
        <p:nvSpPr>
          <p:cNvPr id="17" name="Text 10"/>
          <p:cNvSpPr/>
          <p:nvPr/>
        </p:nvSpPr>
        <p:spPr>
          <a:xfrm>
            <a:off x="5762625" y="4760595"/>
            <a:ext cx="1714500" cy="1047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结合中文语言特点构建领域专用停用词表，剔除无情感负载的虚词与标点。精细化过滤提升有效特征密度，强化情感判别关键信息权重。</a:t>
            </a:r>
            <a:endParaRPr lang="en-US" sz="1050" dirty="0"/>
          </a:p>
        </p:txBody>
      </p:sp>
      <p:pic>
        <p:nvPicPr>
          <p:cNvPr id="18" name="Image 5" descr="preencoded.png"/>
          <p:cNvPicPr>
            <a:picLocks noChangeAspect="1"/>
          </p:cNvPicPr>
          <p:nvPr/>
        </p:nvPicPr>
        <p:blipFill>
          <a:blip r:embed="rId8"/>
          <a:srcRect/>
          <a:stretch/>
        </p:blipFill>
        <p:spPr>
          <a:xfrm>
            <a:off x="3905250" y="4027170"/>
            <a:ext cx="476250" cy="476250"/>
          </a:xfrm>
          <a:prstGeom prst="rect">
            <a:avLst/>
          </a:prstGeom>
        </p:spPr>
      </p:pic>
      <p:sp>
        <p:nvSpPr>
          <p:cNvPr id="19" name="Text 11"/>
          <p:cNvSpPr/>
          <p:nvPr/>
        </p:nvSpPr>
        <p:spPr>
          <a:xfrm>
            <a:off x="3286125" y="4617720"/>
            <a:ext cx="1714500" cy="209550"/>
          </a:xfrm>
          <a:prstGeom prst="rect">
            <a:avLst/>
          </a:prstGeom>
          <a:noFill/>
          <a:ln/>
        </p:spPr>
        <p:txBody>
          <a:bodyPr vert="horz" wrap="square" lIns="0" tIns="0" rIns="0" bIns="0" rtlCol="0" anchor="ctr"/>
          <a:lstStyle/>
          <a:p>
            <a:pPr marL="0" indent="0" algn="ctr">
              <a:lnSpc>
                <a:spcPts val="1650"/>
              </a:lnSpc>
              <a:buNone/>
            </a:pPr>
            <a:r>
              <a:rPr lang="en-US" sz="1200" b="1" dirty="0">
                <a:solidFill>
                  <a:srgbClr val="333333"/>
                </a:solidFill>
                <a:latin typeface="Microsoft YaHei" pitchFamily="34" charset="0"/>
                <a:ea typeface="Microsoft YaHei" pitchFamily="34" charset="-122"/>
                <a:cs typeface="Microsoft YaHei" pitchFamily="34" charset="-120"/>
              </a:rPr>
              <a:t>词表动态更新</a:t>
            </a:r>
            <a:endParaRPr lang="en-US" sz="1200" dirty="0"/>
          </a:p>
        </p:txBody>
      </p:sp>
      <p:sp>
        <p:nvSpPr>
          <p:cNvPr id="20" name="Text 12"/>
          <p:cNvSpPr/>
          <p:nvPr/>
        </p:nvSpPr>
        <p:spPr>
          <a:xfrm>
            <a:off x="3286125" y="4865370"/>
            <a:ext cx="1714500" cy="1047750"/>
          </a:xfrm>
          <a:prstGeom prst="rect">
            <a:avLst/>
          </a:prstGeom>
          <a:noFill/>
          <a:ln/>
        </p:spPr>
        <p:txBody>
          <a:bodyPr vert="horz" wrap="square" lIns="0" tIns="0" rIns="0" bIns="0" rtlCol="0" anchor="ctr"/>
          <a:lstStyle/>
          <a:p>
            <a:pPr marL="0" indent="0" algn="ctr">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支持定期融合新采集文本中的新兴网络用语与热点词汇，保持词表时效性。动态机制确保模型持续适应社交媒体语言演变趋势。</a:t>
            </a:r>
            <a:endParaRPr lang="en-US" sz="1050" dirty="0"/>
          </a:p>
        </p:txBody>
      </p:sp>
      <p:sp>
        <p:nvSpPr>
          <p:cNvPr id="21" name="Text 1">
            <a:extLst>
              <a:ext uri="{FF2B5EF4-FFF2-40B4-BE49-F238E27FC236}">
                <a16:creationId xmlns:a16="http://schemas.microsoft.com/office/drawing/2014/main" id="{DA6E7E4C-0495-F23F-59BA-47177A15316E}"/>
              </a:ext>
            </a:extLst>
          </p:cNvPr>
          <p:cNvSpPr/>
          <p:nvPr/>
        </p:nvSpPr>
        <p:spPr>
          <a:xfrm>
            <a:off x="523875" y="2663666"/>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目前工作：</a:t>
            </a:r>
            <a:endParaRPr lang="en-US" sz="2250" dirty="0"/>
          </a:p>
        </p:txBody>
      </p:sp>
      <p:sp>
        <p:nvSpPr>
          <p:cNvPr id="22" name="Text 1">
            <a:extLst>
              <a:ext uri="{FF2B5EF4-FFF2-40B4-BE49-F238E27FC236}">
                <a16:creationId xmlns:a16="http://schemas.microsoft.com/office/drawing/2014/main" id="{70103B85-7397-27F9-CC1F-32A09ECA4C16}"/>
              </a:ext>
            </a:extLst>
          </p:cNvPr>
          <p:cNvSpPr/>
          <p:nvPr/>
        </p:nvSpPr>
        <p:spPr>
          <a:xfrm>
            <a:off x="523875" y="4589145"/>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333333"/>
                </a:solidFill>
                <a:latin typeface="Microsoft YaHei" pitchFamily="34" charset="0"/>
                <a:ea typeface="Microsoft YaHei" pitchFamily="34" charset="-122"/>
                <a:cs typeface="Microsoft YaHei" pitchFamily="34" charset="-120"/>
              </a:rPr>
              <a:t>后期优化：</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模型训练与性能验证</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04</a:t>
            </a:r>
            <a:endParaRPr lang="en-US" sz="2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838825"/>
          </a:xfrm>
          <a:prstGeom prst="rect">
            <a:avLst/>
          </a:prstGeom>
          <a:solidFill>
            <a:srgbClr val="FFFFFF"/>
          </a:solidFill>
          <a:ln/>
        </p:spPr>
      </p:sp>
      <p:pic>
        <p:nvPicPr>
          <p:cNvPr id="3" name="Image 0" descr="preencoded.png"/>
          <p:cNvPicPr>
            <a:picLocks noChangeAspect="1"/>
          </p:cNvPicPr>
          <p:nvPr/>
        </p:nvPicPr>
        <p:blipFill>
          <a:blip r:embed="rId3"/>
          <a:srcRect l="5954" r="5954"/>
          <a:stretch/>
        </p:blipFill>
        <p:spPr>
          <a:xfrm>
            <a:off x="0" y="0"/>
            <a:ext cx="9144000" cy="5838825"/>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333333"/>
                </a:solidFill>
                <a:latin typeface="Microsoft YaHei" pitchFamily="34" charset="0"/>
                <a:ea typeface="Microsoft YaHei" pitchFamily="34" charset="-122"/>
                <a:cs typeface="Microsoft YaHei" pitchFamily="34" charset="-120"/>
              </a:rPr>
              <a:t>执行批量数据编码与序列填充，确保输入张量符合深度学习网络要求</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381000" y="1143000"/>
            <a:ext cx="8382000" cy="3819525"/>
          </a:xfrm>
          <a:prstGeom prst="rect">
            <a:avLst/>
          </a:prstGeom>
        </p:spPr>
      </p:pic>
      <p:sp>
        <p:nvSpPr>
          <p:cNvPr id="7" name="Text 3"/>
          <p:cNvSpPr/>
          <p:nvPr/>
        </p:nvSpPr>
        <p:spPr>
          <a:xfrm>
            <a:off x="3914775" y="1600200"/>
            <a:ext cx="1314450" cy="276225"/>
          </a:xfrm>
          <a:prstGeom prst="rect">
            <a:avLst/>
          </a:prstGeom>
          <a:noFill/>
          <a:ln/>
        </p:spPr>
        <p:txBody>
          <a:bodyPr vert="horz" wrap="square" lIns="0" tIns="0" rIns="0" bIns="0" rtlCol="0" anchor="ctr"/>
          <a:lstStyle/>
          <a:p>
            <a:pPr marL="0" indent="0" algn="ctr">
              <a:lnSpc>
                <a:spcPts val="1350"/>
              </a:lnSpc>
              <a:buNone/>
            </a:pPr>
            <a:r>
              <a:rPr lang="en-US" sz="1350" b="1" dirty="0">
                <a:solidFill>
                  <a:srgbClr val="615CED"/>
                </a:solidFill>
                <a:latin typeface="Microsoft YaHei" pitchFamily="34" charset="0"/>
                <a:ea typeface="Microsoft YaHei" pitchFamily="34" charset="-122"/>
                <a:cs typeface="Microsoft YaHei" pitchFamily="34" charset="-120"/>
              </a:rPr>
              <a:t>序列编码处理</a:t>
            </a:r>
            <a:endParaRPr lang="en-US" sz="1350" dirty="0"/>
          </a:p>
        </p:txBody>
      </p:sp>
      <p:sp>
        <p:nvSpPr>
          <p:cNvPr id="8" name="Text 4"/>
          <p:cNvSpPr/>
          <p:nvPr/>
        </p:nvSpPr>
        <p:spPr>
          <a:xfrm>
            <a:off x="6762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5BB1E1"/>
                </a:solidFill>
                <a:latin typeface="Microsoft YaHei" pitchFamily="34" charset="0"/>
                <a:ea typeface="Microsoft YaHei" pitchFamily="34" charset="-122"/>
                <a:cs typeface="Microsoft YaHei" pitchFamily="34" charset="-120"/>
              </a:rPr>
              <a:t>分词映射</a:t>
            </a:r>
            <a:endParaRPr lang="en-US" sz="1200" dirty="0"/>
          </a:p>
        </p:txBody>
      </p:sp>
      <p:sp>
        <p:nvSpPr>
          <p:cNvPr id="9" name="Text 5"/>
          <p:cNvSpPr/>
          <p:nvPr/>
        </p:nvSpPr>
        <p:spPr>
          <a:xfrm>
            <a:off x="876300" y="31718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将文本切分为词汇单元，依据词汇表转换为对应索引。</a:t>
            </a:r>
            <a:endParaRPr lang="en-US" sz="1050" dirty="0"/>
          </a:p>
        </p:txBody>
      </p:sp>
      <p:sp>
        <p:nvSpPr>
          <p:cNvPr id="10" name="Text 6"/>
          <p:cNvSpPr/>
          <p:nvPr/>
        </p:nvSpPr>
        <p:spPr>
          <a:xfrm>
            <a:off x="876300" y="40481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建立词与索引的唯一映射，确保模型输入一致性。</a:t>
            </a:r>
            <a:endParaRPr lang="en-US" sz="1050" dirty="0"/>
          </a:p>
        </p:txBody>
      </p:sp>
      <p:sp>
        <p:nvSpPr>
          <p:cNvPr id="11" name="Text 7"/>
          <p:cNvSpPr/>
          <p:nvPr/>
        </p:nvSpPr>
        <p:spPr>
          <a:xfrm>
            <a:off x="20097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615CED"/>
                </a:solidFill>
                <a:latin typeface="Microsoft YaHei" pitchFamily="34" charset="0"/>
                <a:ea typeface="Microsoft YaHei" pitchFamily="34" charset="-122"/>
                <a:cs typeface="Microsoft YaHei" pitchFamily="34" charset="-120"/>
              </a:rPr>
              <a:t>索引序列</a:t>
            </a:r>
            <a:endParaRPr lang="en-US" sz="1200" dirty="0"/>
          </a:p>
        </p:txBody>
      </p:sp>
      <p:sp>
        <p:nvSpPr>
          <p:cNvPr id="12" name="Text 8"/>
          <p:cNvSpPr/>
          <p:nvPr/>
        </p:nvSpPr>
        <p:spPr>
          <a:xfrm>
            <a:off x="2209800" y="31718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将分词后的结果转化为数字索引序列，便于模型处理。</a:t>
            </a:r>
            <a:endParaRPr lang="en-US" sz="1050" dirty="0"/>
          </a:p>
        </p:txBody>
      </p:sp>
      <p:sp>
        <p:nvSpPr>
          <p:cNvPr id="13" name="Text 9"/>
          <p:cNvSpPr/>
          <p:nvPr/>
        </p:nvSpPr>
        <p:spPr>
          <a:xfrm>
            <a:off x="2209800" y="40481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使用统一编码规则，保障训练与预测阶段的一致性。</a:t>
            </a:r>
            <a:endParaRPr lang="en-US" sz="1050" dirty="0"/>
          </a:p>
        </p:txBody>
      </p:sp>
      <p:sp>
        <p:nvSpPr>
          <p:cNvPr id="14" name="Text 10"/>
          <p:cNvSpPr/>
          <p:nvPr/>
        </p:nvSpPr>
        <p:spPr>
          <a:xfrm>
            <a:off x="33432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5BB1E1"/>
                </a:solidFill>
                <a:latin typeface="Microsoft YaHei" pitchFamily="34" charset="0"/>
                <a:ea typeface="Microsoft YaHei" pitchFamily="34" charset="-122"/>
                <a:cs typeface="Microsoft YaHei" pitchFamily="34" charset="-120"/>
              </a:rPr>
              <a:t>长度规整</a:t>
            </a:r>
            <a:endParaRPr lang="en-US" sz="1200" dirty="0"/>
          </a:p>
        </p:txBody>
      </p:sp>
      <p:sp>
        <p:nvSpPr>
          <p:cNvPr id="15" name="Text 11"/>
          <p:cNvSpPr/>
          <p:nvPr/>
        </p:nvSpPr>
        <p:spPr>
          <a:xfrm>
            <a:off x="3543300" y="31718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对不等长序列进行截断或补零，使所有序列长度一致。</a:t>
            </a:r>
            <a:endParaRPr lang="en-US" sz="1050" dirty="0"/>
          </a:p>
        </p:txBody>
      </p:sp>
      <p:sp>
        <p:nvSpPr>
          <p:cNvPr id="16" name="Text 12"/>
          <p:cNvSpPr/>
          <p:nvPr/>
        </p:nvSpPr>
        <p:spPr>
          <a:xfrm>
            <a:off x="3543300" y="40481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在保留关键信息的同时适配模型固定维度输入要求。</a:t>
            </a:r>
            <a:endParaRPr lang="en-US" sz="1050" dirty="0"/>
          </a:p>
        </p:txBody>
      </p:sp>
      <p:sp>
        <p:nvSpPr>
          <p:cNvPr id="17" name="Text 13"/>
          <p:cNvSpPr/>
          <p:nvPr/>
        </p:nvSpPr>
        <p:spPr>
          <a:xfrm>
            <a:off x="46767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615CED"/>
                </a:solidFill>
                <a:latin typeface="Microsoft YaHei" pitchFamily="34" charset="0"/>
                <a:ea typeface="Microsoft YaHei" pitchFamily="34" charset="-122"/>
                <a:cs typeface="Microsoft YaHei" pitchFamily="34" charset="-120"/>
              </a:rPr>
              <a:t>张量封装</a:t>
            </a:r>
            <a:endParaRPr lang="en-US" sz="1200" dirty="0"/>
          </a:p>
        </p:txBody>
      </p:sp>
      <p:sp>
        <p:nvSpPr>
          <p:cNvPr id="18" name="Text 14"/>
          <p:cNvSpPr/>
          <p:nvPr/>
        </p:nvSpPr>
        <p:spPr>
          <a:xfrm>
            <a:off x="4876800" y="3171825"/>
            <a:ext cx="100965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将规整后的序列组织成批量多维张量结构。</a:t>
            </a:r>
            <a:endParaRPr lang="en-US" sz="1050" dirty="0"/>
          </a:p>
        </p:txBody>
      </p:sp>
      <p:sp>
        <p:nvSpPr>
          <p:cNvPr id="19" name="Text 15"/>
          <p:cNvSpPr/>
          <p:nvPr/>
        </p:nvSpPr>
        <p:spPr>
          <a:xfrm>
            <a:off x="4876800" y="383857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支持深度学习框架高效运算，提升GPU并行效率。</a:t>
            </a:r>
            <a:endParaRPr lang="en-US" sz="1050" dirty="0"/>
          </a:p>
        </p:txBody>
      </p:sp>
      <p:sp>
        <p:nvSpPr>
          <p:cNvPr id="20" name="Text 16"/>
          <p:cNvSpPr/>
          <p:nvPr/>
        </p:nvSpPr>
        <p:spPr>
          <a:xfrm>
            <a:off x="60102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5BB1E1"/>
                </a:solidFill>
                <a:latin typeface="Microsoft YaHei" pitchFamily="34" charset="0"/>
                <a:ea typeface="Microsoft YaHei" pitchFamily="34" charset="-122"/>
                <a:cs typeface="Microsoft YaHei" pitchFamily="34" charset="-120"/>
              </a:rPr>
              <a:t>计算优化</a:t>
            </a:r>
            <a:endParaRPr lang="en-US" sz="1200" dirty="0"/>
          </a:p>
        </p:txBody>
      </p:sp>
      <p:sp>
        <p:nvSpPr>
          <p:cNvPr id="21" name="Text 17"/>
          <p:cNvSpPr/>
          <p:nvPr/>
        </p:nvSpPr>
        <p:spPr>
          <a:xfrm>
            <a:off x="6210300" y="317182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通过批量处理提高数据吞吐率，加速模型训练过程。</a:t>
            </a:r>
            <a:endParaRPr lang="en-US" sz="1050" dirty="0"/>
          </a:p>
        </p:txBody>
      </p:sp>
      <p:sp>
        <p:nvSpPr>
          <p:cNvPr id="22" name="Text 18"/>
          <p:cNvSpPr/>
          <p:nvPr/>
        </p:nvSpPr>
        <p:spPr>
          <a:xfrm>
            <a:off x="6210300" y="4048125"/>
            <a:ext cx="100965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利用硬件加速能力显著降低整体计算时间开销。</a:t>
            </a:r>
            <a:endParaRPr lang="en-US" sz="1050" dirty="0"/>
          </a:p>
        </p:txBody>
      </p:sp>
      <p:sp>
        <p:nvSpPr>
          <p:cNvPr id="23" name="Text 19"/>
          <p:cNvSpPr/>
          <p:nvPr/>
        </p:nvSpPr>
        <p:spPr>
          <a:xfrm>
            <a:off x="7343775" y="2843213"/>
            <a:ext cx="1104900" cy="247650"/>
          </a:xfrm>
          <a:prstGeom prst="rect">
            <a:avLst/>
          </a:prstGeom>
          <a:noFill/>
          <a:ln/>
        </p:spPr>
        <p:txBody>
          <a:bodyPr vert="horz" wrap="square" lIns="0" tIns="0" rIns="0" bIns="0" rtlCol="0" anchor="ctr"/>
          <a:lstStyle/>
          <a:p>
            <a:pPr marL="0" indent="0" algn="ctr">
              <a:lnSpc>
                <a:spcPts val="1200"/>
              </a:lnSpc>
              <a:buNone/>
            </a:pPr>
            <a:r>
              <a:rPr lang="en-US" sz="1200" b="1" dirty="0">
                <a:solidFill>
                  <a:srgbClr val="615CED"/>
                </a:solidFill>
                <a:latin typeface="Microsoft YaHei" pitchFamily="34" charset="0"/>
                <a:ea typeface="Microsoft YaHei" pitchFamily="34" charset="-122"/>
                <a:cs typeface="Microsoft YaHei" pitchFamily="34" charset="-120"/>
              </a:rPr>
              <a:t>输入适配</a:t>
            </a:r>
            <a:endParaRPr lang="en-US" sz="1200" dirty="0"/>
          </a:p>
        </p:txBody>
      </p:sp>
      <p:sp>
        <p:nvSpPr>
          <p:cNvPr id="24" name="Text 20"/>
          <p:cNvSpPr/>
          <p:nvPr/>
        </p:nvSpPr>
        <p:spPr>
          <a:xfrm>
            <a:off x="7543800" y="3171825"/>
            <a:ext cx="1009650" cy="6667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将原始文本转化为模型可接受的标准格式输入。</a:t>
            </a:r>
            <a:endParaRPr lang="en-US" sz="1050" dirty="0"/>
          </a:p>
        </p:txBody>
      </p:sp>
      <p:sp>
        <p:nvSpPr>
          <p:cNvPr id="25" name="Text 21"/>
          <p:cNvSpPr/>
          <p:nvPr/>
        </p:nvSpPr>
        <p:spPr>
          <a:xfrm>
            <a:off x="7543800" y="3838575"/>
            <a:ext cx="1009650"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确保数据流在不同阶段无缝对接，增强系统稳定性。</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362825"/>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a:solidFill>
                  <a:srgbClr val="FFFFFF"/>
                </a:solidFill>
                <a:latin typeface="Microsoft YaHei" pitchFamily="34" charset="0"/>
                <a:ea typeface="Microsoft YaHei" pitchFamily="34" charset="-122"/>
                <a:cs typeface="Microsoft YaHei" pitchFamily="34" charset="-120"/>
              </a:rPr>
              <a:t>系统调优学习率、批次大小与Dropout比例等关键超参数，平衡收敛速度与泛化能力</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4"/>
          <a:srcRect/>
          <a:stretch/>
        </p:blipFill>
        <p:spPr>
          <a:xfrm>
            <a:off x="400050" y="1847850"/>
            <a:ext cx="2085975" cy="2757488"/>
          </a:xfrm>
          <a:prstGeom prst="rect">
            <a:avLst/>
          </a:prstGeom>
        </p:spPr>
      </p:pic>
      <p:sp>
        <p:nvSpPr>
          <p:cNvPr id="7" name="Text 3"/>
          <p:cNvSpPr/>
          <p:nvPr/>
        </p:nvSpPr>
        <p:spPr>
          <a:xfrm>
            <a:off x="752475"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学习率调优</a:t>
            </a:r>
            <a:endParaRPr lang="en-US" sz="1200" dirty="0"/>
          </a:p>
        </p:txBody>
      </p:sp>
      <p:sp>
        <p:nvSpPr>
          <p:cNvPr id="8" name="Text 4"/>
          <p:cNvSpPr/>
          <p:nvPr/>
        </p:nvSpPr>
        <p:spPr>
          <a:xfrm>
            <a:off x="752475" y="2919412"/>
            <a:ext cx="1381125" cy="12954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学习率决定模型收敛速度与稳定性。通过指数衰减搜索法，在0.001至0.01间筛选最优初始学习率，确保训练快速且不震荡。</a:t>
            </a:r>
            <a:endParaRPr lang="en-US" sz="1050" dirty="0"/>
          </a:p>
        </p:txBody>
      </p:sp>
      <p:pic>
        <p:nvPicPr>
          <p:cNvPr id="9" name="Image 2" descr="preencoded.png"/>
          <p:cNvPicPr>
            <a:picLocks noChangeAspect="1"/>
          </p:cNvPicPr>
          <p:nvPr/>
        </p:nvPicPr>
        <p:blipFill>
          <a:blip r:embed="rId5"/>
          <a:srcRect/>
          <a:stretch/>
        </p:blipFill>
        <p:spPr>
          <a:xfrm>
            <a:off x="2486025" y="1847850"/>
            <a:ext cx="2085975" cy="2757488"/>
          </a:xfrm>
          <a:prstGeom prst="rect">
            <a:avLst/>
          </a:prstGeom>
        </p:spPr>
      </p:pic>
      <p:sp>
        <p:nvSpPr>
          <p:cNvPr id="10" name="Text 5"/>
          <p:cNvSpPr/>
          <p:nvPr/>
        </p:nvSpPr>
        <p:spPr>
          <a:xfrm>
            <a:off x="2838450"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批次大小选择</a:t>
            </a:r>
            <a:endParaRPr lang="en-US" sz="1200" dirty="0"/>
          </a:p>
        </p:txBody>
      </p:sp>
      <p:sp>
        <p:nvSpPr>
          <p:cNvPr id="11" name="Text 6"/>
          <p:cNvSpPr/>
          <p:nvPr/>
        </p:nvSpPr>
        <p:spPr>
          <a:xfrm>
            <a:off x="2838450" y="2919412"/>
            <a:ext cx="1381125" cy="10858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对比32、64、128等批次规模，发现64在梯度估计精度与显存占用间达到最佳平衡，提升整体训练效率。</a:t>
            </a:r>
            <a:endParaRPr lang="en-US" sz="1050" dirty="0"/>
          </a:p>
        </p:txBody>
      </p:sp>
      <p:pic>
        <p:nvPicPr>
          <p:cNvPr id="12" name="Image 3" descr="preencoded.png"/>
          <p:cNvPicPr>
            <a:picLocks noChangeAspect="1"/>
          </p:cNvPicPr>
          <p:nvPr/>
        </p:nvPicPr>
        <p:blipFill>
          <a:blip r:embed="rId6"/>
          <a:srcRect/>
          <a:stretch/>
        </p:blipFill>
        <p:spPr>
          <a:xfrm>
            <a:off x="4572000" y="1847850"/>
            <a:ext cx="2085975" cy="2757488"/>
          </a:xfrm>
          <a:prstGeom prst="rect">
            <a:avLst/>
          </a:prstGeom>
        </p:spPr>
      </p:pic>
      <p:sp>
        <p:nvSpPr>
          <p:cNvPr id="13" name="Text 7"/>
          <p:cNvSpPr/>
          <p:nvPr/>
        </p:nvSpPr>
        <p:spPr>
          <a:xfrm>
            <a:off x="4924425" y="26289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Dropout正则化</a:t>
            </a:r>
            <a:endParaRPr lang="en-US" sz="1200" dirty="0"/>
          </a:p>
        </p:txBody>
      </p:sp>
      <p:sp>
        <p:nvSpPr>
          <p:cNvPr id="14" name="Text 8"/>
          <p:cNvSpPr/>
          <p:nvPr/>
        </p:nvSpPr>
        <p:spPr>
          <a:xfrm>
            <a:off x="4924425" y="2919412"/>
            <a:ext cx="1381125" cy="87630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在全连接层引入0.5的Dropout比例，有效防止过拟合，增强模型对未见数据的泛化能力。</a:t>
            </a:r>
            <a:endParaRPr lang="en-US" sz="1050" dirty="0"/>
          </a:p>
        </p:txBody>
      </p:sp>
      <p:pic>
        <p:nvPicPr>
          <p:cNvPr id="18" name="Image 5" descr="preencoded.png"/>
          <p:cNvPicPr>
            <a:picLocks noChangeAspect="1"/>
          </p:cNvPicPr>
          <p:nvPr/>
        </p:nvPicPr>
        <p:blipFill>
          <a:blip r:embed="rId7"/>
          <a:srcRect/>
          <a:stretch/>
        </p:blipFill>
        <p:spPr>
          <a:xfrm>
            <a:off x="6858000" y="1924050"/>
            <a:ext cx="2085975" cy="2547938"/>
          </a:xfrm>
          <a:prstGeom prst="rect">
            <a:avLst/>
          </a:prstGeom>
        </p:spPr>
      </p:pic>
      <p:sp>
        <p:nvSpPr>
          <p:cNvPr id="19" name="Text 11"/>
          <p:cNvSpPr/>
          <p:nvPr/>
        </p:nvSpPr>
        <p:spPr>
          <a:xfrm>
            <a:off x="7210425" y="2705100"/>
            <a:ext cx="1381125" cy="252413"/>
          </a:xfrm>
          <a:prstGeom prst="rect">
            <a:avLst/>
          </a:prstGeom>
          <a:noFill/>
          <a:ln/>
        </p:spPr>
        <p:txBody>
          <a:bodyPr vert="horz" wrap="square" lIns="0" tIns="0" rIns="0" bIns="0" rtlCol="0" anchor="ctr"/>
          <a:lstStyle/>
          <a:p>
            <a:pPr marL="0" indent="0" algn="l">
              <a:lnSpc>
                <a:spcPts val="1688"/>
              </a:lnSpc>
              <a:buNone/>
            </a:pPr>
            <a:r>
              <a:rPr lang="en-US" sz="1200" b="1" dirty="0">
                <a:solidFill>
                  <a:srgbClr val="333333"/>
                </a:solidFill>
                <a:latin typeface="Microsoft YaHei" pitchFamily="34" charset="0"/>
                <a:ea typeface="Microsoft YaHei" pitchFamily="34" charset="-122"/>
                <a:cs typeface="Microsoft YaHei" pitchFamily="34" charset="-120"/>
              </a:rPr>
              <a:t>动态调参策略</a:t>
            </a:r>
            <a:endParaRPr lang="en-US" sz="1200" dirty="0"/>
          </a:p>
        </p:txBody>
      </p:sp>
      <p:sp>
        <p:nvSpPr>
          <p:cNvPr id="20" name="Text 12"/>
          <p:cNvSpPr/>
          <p:nvPr/>
        </p:nvSpPr>
        <p:spPr>
          <a:xfrm>
            <a:off x="7210425" y="2995612"/>
            <a:ext cx="1381125" cy="1085850"/>
          </a:xfrm>
          <a:prstGeom prst="rect">
            <a:avLst/>
          </a:prstGeom>
          <a:noFill/>
          <a:ln/>
        </p:spPr>
        <p:txBody>
          <a:bodyPr vert="horz" wrap="square" lIns="0" tIns="0" rIns="0" bIns="0" rtlCol="0" anchor="ctr"/>
          <a:lstStyle/>
          <a:p>
            <a:pPr marL="0" indent="0" algn="l">
              <a:lnSpc>
                <a:spcPts val="1650"/>
              </a:lnSpc>
              <a:buNone/>
            </a:pPr>
            <a:r>
              <a:rPr lang="en-US" sz="1050" dirty="0">
                <a:solidFill>
                  <a:srgbClr val="666666"/>
                </a:solidFill>
                <a:latin typeface="Microsoft YaHei" pitchFamily="34" charset="0"/>
                <a:ea typeface="Microsoft YaHei" pitchFamily="34" charset="-122"/>
                <a:cs typeface="Microsoft YaHei" pitchFamily="34" charset="-120"/>
              </a:rPr>
              <a:t>训练中使用学习率衰减与早停机制，根据验证集表现自适应调整，避免过拟合并节省计算资源。</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333333"/>
                </a:solidFill>
                <a:latin typeface="Microsoft YaHei" pitchFamily="34" charset="0"/>
                <a:ea typeface="Microsoft YaHei" pitchFamily="34" charset="-122"/>
                <a:cs typeface="Microsoft YaHei" pitchFamily="34" charset="-120"/>
              </a:rPr>
              <a:t>展示训练过程中的损失曲线与准确率变化趋势</a:t>
            </a:r>
            <a:r>
              <a:rPr lang="zh-CN" altLang="en-US" sz="2250" b="1" dirty="0">
                <a:solidFill>
                  <a:srgbClr val="333333"/>
                </a:solidFill>
                <a:latin typeface="Microsoft YaHei" pitchFamily="34" charset="0"/>
                <a:ea typeface="Microsoft YaHei" pitchFamily="34" charset="-122"/>
                <a:cs typeface="Microsoft YaHei" pitchFamily="34" charset="-120"/>
              </a:rPr>
              <a:t>：效果显著</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descr="图表&#10;&#10;AI 生成的内容可能不正确。">
            <a:extLst>
              <a:ext uri="{FF2B5EF4-FFF2-40B4-BE49-F238E27FC236}">
                <a16:creationId xmlns:a16="http://schemas.microsoft.com/office/drawing/2014/main" id="{9FA723A4-BF3D-251A-14FF-791D2744FAEA}"/>
              </a:ext>
            </a:extLst>
          </p:cNvPr>
          <p:cNvPicPr>
            <a:picLocks noChangeAspect="1"/>
          </p:cNvPicPr>
          <p:nvPr/>
        </p:nvPicPr>
        <p:blipFill>
          <a:blip r:embed="rId4"/>
          <a:stretch>
            <a:fillRect/>
          </a:stretch>
        </p:blipFill>
        <p:spPr>
          <a:xfrm>
            <a:off x="162391" y="1409700"/>
            <a:ext cx="2840193" cy="1890001"/>
          </a:xfrm>
          <a:prstGeom prst="rect">
            <a:avLst/>
          </a:prstGeom>
        </p:spPr>
      </p:pic>
      <p:pic>
        <p:nvPicPr>
          <p:cNvPr id="21" name="图片 20" descr="图表, 折线图&#10;&#10;AI 生成的内容可能不正确。">
            <a:extLst>
              <a:ext uri="{FF2B5EF4-FFF2-40B4-BE49-F238E27FC236}">
                <a16:creationId xmlns:a16="http://schemas.microsoft.com/office/drawing/2014/main" id="{6367137C-E73F-DE7E-0A7C-A4FADD07223D}"/>
              </a:ext>
            </a:extLst>
          </p:cNvPr>
          <p:cNvPicPr>
            <a:picLocks noChangeAspect="1"/>
          </p:cNvPicPr>
          <p:nvPr/>
        </p:nvPicPr>
        <p:blipFill>
          <a:blip r:embed="rId5"/>
          <a:stretch>
            <a:fillRect/>
          </a:stretch>
        </p:blipFill>
        <p:spPr>
          <a:xfrm>
            <a:off x="3055123" y="1409700"/>
            <a:ext cx="2943530" cy="1890001"/>
          </a:xfrm>
          <a:prstGeom prst="rect">
            <a:avLst/>
          </a:prstGeom>
        </p:spPr>
      </p:pic>
      <p:pic>
        <p:nvPicPr>
          <p:cNvPr id="23" name="图片 22" descr="图表, 折线图&#10;&#10;AI 生成的内容可能不正确。">
            <a:extLst>
              <a:ext uri="{FF2B5EF4-FFF2-40B4-BE49-F238E27FC236}">
                <a16:creationId xmlns:a16="http://schemas.microsoft.com/office/drawing/2014/main" id="{CFD33086-F9B7-9DCE-8E6F-41EB762A0C2E}"/>
              </a:ext>
            </a:extLst>
          </p:cNvPr>
          <p:cNvPicPr>
            <a:picLocks noChangeAspect="1"/>
          </p:cNvPicPr>
          <p:nvPr/>
        </p:nvPicPr>
        <p:blipFill>
          <a:blip r:embed="rId6"/>
          <a:stretch>
            <a:fillRect/>
          </a:stretch>
        </p:blipFill>
        <p:spPr>
          <a:xfrm>
            <a:off x="6051192" y="1409700"/>
            <a:ext cx="2930417" cy="1890001"/>
          </a:xfrm>
          <a:prstGeom prst="rect">
            <a:avLst/>
          </a:prstGeom>
        </p:spPr>
      </p:pic>
      <p:sp>
        <p:nvSpPr>
          <p:cNvPr id="24" name="Text 3">
            <a:extLst>
              <a:ext uri="{FF2B5EF4-FFF2-40B4-BE49-F238E27FC236}">
                <a16:creationId xmlns:a16="http://schemas.microsoft.com/office/drawing/2014/main" id="{B113FE5D-671B-997A-62B1-F0CBFF2CDEFF}"/>
              </a:ext>
            </a:extLst>
          </p:cNvPr>
          <p:cNvSpPr/>
          <p:nvPr/>
        </p:nvSpPr>
        <p:spPr>
          <a:xfrm>
            <a:off x="880110"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BiRNN</a:t>
            </a:r>
            <a:r>
              <a:rPr lang="en-US" altLang="zh-CN" sz="1200" b="1" dirty="0"/>
              <a:t> epoch=3</a:t>
            </a:r>
            <a:endParaRPr lang="en-US" sz="1200" b="1" dirty="0"/>
          </a:p>
        </p:txBody>
      </p:sp>
      <p:sp>
        <p:nvSpPr>
          <p:cNvPr id="25" name="Text 3">
            <a:extLst>
              <a:ext uri="{FF2B5EF4-FFF2-40B4-BE49-F238E27FC236}">
                <a16:creationId xmlns:a16="http://schemas.microsoft.com/office/drawing/2014/main" id="{F1847240-BF42-B3C8-6676-255614DBE2B3}"/>
              </a:ext>
            </a:extLst>
          </p:cNvPr>
          <p:cNvSpPr/>
          <p:nvPr/>
        </p:nvSpPr>
        <p:spPr>
          <a:xfrm>
            <a:off x="3764888"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TextCNN</a:t>
            </a:r>
            <a:r>
              <a:rPr lang="en-US" altLang="zh-CN" sz="1200" b="1" dirty="0"/>
              <a:t> epoch=3</a:t>
            </a:r>
            <a:endParaRPr lang="en-US" sz="1200" b="1" dirty="0"/>
          </a:p>
        </p:txBody>
      </p:sp>
      <p:sp>
        <p:nvSpPr>
          <p:cNvPr id="26" name="Text 3">
            <a:extLst>
              <a:ext uri="{FF2B5EF4-FFF2-40B4-BE49-F238E27FC236}">
                <a16:creationId xmlns:a16="http://schemas.microsoft.com/office/drawing/2014/main" id="{925BAE66-0439-442A-8250-737B1C2C73F6}"/>
              </a:ext>
            </a:extLst>
          </p:cNvPr>
          <p:cNvSpPr/>
          <p:nvPr/>
        </p:nvSpPr>
        <p:spPr>
          <a:xfrm>
            <a:off x="6754400"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TextCNN</a:t>
            </a:r>
            <a:r>
              <a:rPr lang="en-US" altLang="zh-CN" sz="1200" b="1" dirty="0"/>
              <a:t> epoch=5</a:t>
            </a:r>
            <a:endParaRPr lang="en-US" sz="12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238750"/>
          </a:xfrm>
          <a:prstGeom prst="rect">
            <a:avLst/>
          </a:prstGeom>
          <a:solidFill>
            <a:srgbClr val="FFFFFF"/>
          </a:solidFill>
          <a:ln/>
        </p:spPr>
      </p:sp>
      <p:pic>
        <p:nvPicPr>
          <p:cNvPr id="3" name="Image 0" descr="preencoded.png"/>
          <p:cNvPicPr>
            <a:picLocks noChangeAspect="1"/>
          </p:cNvPicPr>
          <p:nvPr/>
        </p:nvPicPr>
        <p:blipFill>
          <a:blip r:embed="rId3"/>
          <a:srcRect l="909" r="909"/>
          <a:stretch/>
        </p:blipFill>
        <p:spPr>
          <a:xfrm>
            <a:off x="0" y="0"/>
            <a:ext cx="9144000" cy="5238750"/>
          </a:xfrm>
          <a:prstGeom prst="rect">
            <a:avLst/>
          </a:prstGeom>
        </p:spPr>
      </p:pic>
      <p:sp>
        <p:nvSpPr>
          <p:cNvPr id="4" name="Text 1"/>
          <p:cNvSpPr/>
          <p:nvPr/>
        </p:nvSpPr>
        <p:spPr>
          <a:xfrm>
            <a:off x="571500" y="466725"/>
            <a:ext cx="8001000" cy="800100"/>
          </a:xfrm>
          <a:prstGeom prst="rect">
            <a:avLst/>
          </a:prstGeom>
          <a:noFill/>
          <a:ln/>
        </p:spPr>
        <p:txBody>
          <a:bodyPr vert="horz" wrap="square" lIns="0" tIns="0" rIns="0" bIns="0" rtlCol="0" anchor="ctr"/>
          <a:lstStyle/>
          <a:p>
            <a:pPr>
              <a:lnSpc>
                <a:spcPts val="3150"/>
              </a:lnSpc>
            </a:pPr>
            <a:r>
              <a:rPr lang="zh-CN" altLang="en-US" sz="2250" b="1" dirty="0">
                <a:solidFill>
                  <a:srgbClr val="333333"/>
                </a:solidFill>
                <a:latin typeface="Microsoft YaHei" pitchFamily="34" charset="0"/>
                <a:ea typeface="Microsoft YaHei" pitchFamily="34" charset="-122"/>
                <a:cs typeface="Microsoft YaHei" pitchFamily="34" charset="-120"/>
              </a:rPr>
              <a:t>训练图像分析：</a:t>
            </a:r>
            <a:r>
              <a:rPr lang="zh-CN" altLang="en-US" b="1" dirty="0"/>
              <a:t>为什么</a:t>
            </a:r>
            <a:r>
              <a:rPr lang="en-US" altLang="zh-CN" b="1" dirty="0" err="1"/>
              <a:t>BiRNN</a:t>
            </a:r>
            <a:r>
              <a:rPr lang="zh-CN" altLang="en-US" b="1" dirty="0"/>
              <a:t>训练速度比</a:t>
            </a:r>
            <a:r>
              <a:rPr lang="en-US" altLang="zh-CN" b="1" dirty="0" err="1"/>
              <a:t>TextRNN</a:t>
            </a:r>
            <a:r>
              <a:rPr lang="zh-CN" altLang="en-US" b="1" dirty="0"/>
              <a:t>慢，而</a:t>
            </a:r>
            <a:r>
              <a:rPr lang="en-US" altLang="zh-CN" b="1" dirty="0" err="1"/>
              <a:t>BiRNN</a:t>
            </a:r>
            <a:r>
              <a:rPr lang="zh-CN" altLang="en-US" b="1" dirty="0"/>
              <a:t>准确率比</a:t>
            </a:r>
            <a:r>
              <a:rPr lang="en-US" altLang="zh-CN" b="1" dirty="0" err="1"/>
              <a:t>TextRNN</a:t>
            </a:r>
            <a:r>
              <a:rPr lang="zh-CN" altLang="en-US" b="1" dirty="0"/>
              <a:t>高，并且需要更少的轮数（</a:t>
            </a:r>
            <a:r>
              <a:rPr lang="en-US" altLang="zh-CN" b="1" dirty="0"/>
              <a:t>BIRNN1</a:t>
            </a:r>
            <a:r>
              <a:rPr lang="zh-CN" altLang="en-US" b="1" dirty="0"/>
              <a:t>次， </a:t>
            </a:r>
            <a:r>
              <a:rPr lang="en-US" altLang="zh-CN" b="1" dirty="0"/>
              <a:t>TextRNN5</a:t>
            </a:r>
            <a:r>
              <a:rPr lang="zh-CN" altLang="en-US" b="1" dirty="0"/>
              <a:t>次）</a:t>
            </a:r>
            <a:endParaRPr lang="zh-CN" altLang="en-US" dirty="0"/>
          </a:p>
          <a:p>
            <a:pPr marL="0" indent="0" algn="l">
              <a:lnSpc>
                <a:spcPts val="3150"/>
              </a:lnSpc>
              <a:buNone/>
            </a:pP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descr="屏幕的截图&#10;&#10;AI 生成的内容可能不正确。">
            <a:extLst>
              <a:ext uri="{FF2B5EF4-FFF2-40B4-BE49-F238E27FC236}">
                <a16:creationId xmlns:a16="http://schemas.microsoft.com/office/drawing/2014/main" id="{4D83EAB5-2069-0955-E687-E61E32F71DA7}"/>
              </a:ext>
            </a:extLst>
          </p:cNvPr>
          <p:cNvPicPr>
            <a:picLocks noChangeAspect="1"/>
          </p:cNvPicPr>
          <p:nvPr/>
        </p:nvPicPr>
        <p:blipFill>
          <a:blip r:embed="rId4"/>
          <a:stretch>
            <a:fillRect/>
          </a:stretch>
        </p:blipFill>
        <p:spPr>
          <a:xfrm>
            <a:off x="1142463" y="1352550"/>
            <a:ext cx="6482124" cy="33854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EF7A-DD67-FD12-65AE-9916994F216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099E4F-C1BA-D26C-B625-F1BDAFC3095B}"/>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F9DC2EDF-707C-91F2-3F0F-33F3E62A9CBC}"/>
              </a:ext>
            </a:extLst>
          </p:cNvPr>
          <p:cNvPicPr>
            <a:picLocks noChangeAspect="1"/>
          </p:cNvPicPr>
          <p:nvPr/>
        </p:nvPicPr>
        <p:blipFill>
          <a:blip r:embed="rId3"/>
          <a:srcRect/>
          <a:stretch/>
        </p:blipFill>
        <p:spPr>
          <a:xfrm>
            <a:off x="0" y="0"/>
            <a:ext cx="9144000" cy="5143500"/>
          </a:xfrm>
          <a:prstGeom prst="rect">
            <a:avLst/>
          </a:prstGeom>
        </p:spPr>
      </p:pic>
      <p:sp>
        <p:nvSpPr>
          <p:cNvPr id="4" name="Text 1">
            <a:extLst>
              <a:ext uri="{FF2B5EF4-FFF2-40B4-BE49-F238E27FC236}">
                <a16:creationId xmlns:a16="http://schemas.microsoft.com/office/drawing/2014/main" id="{4A9C2D53-DDE3-83AA-001F-EE9656CD79DF}"/>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en-US" sz="2250" b="1" dirty="0" err="1">
                <a:solidFill>
                  <a:srgbClr val="333333"/>
                </a:solidFill>
                <a:latin typeface="Microsoft YaHei" pitchFamily="34" charset="0"/>
                <a:ea typeface="Microsoft YaHei" pitchFamily="34" charset="-122"/>
                <a:cs typeface="Microsoft YaHei" pitchFamily="34" charset="-120"/>
              </a:rPr>
              <a:t>展示训练过程中的损失曲线与准确率变化趋势</a:t>
            </a:r>
            <a:r>
              <a:rPr lang="zh-CN" altLang="en-US" sz="2250" b="1" dirty="0">
                <a:solidFill>
                  <a:srgbClr val="333333"/>
                </a:solidFill>
                <a:latin typeface="Microsoft YaHei" pitchFamily="34" charset="0"/>
                <a:ea typeface="Microsoft YaHei" pitchFamily="34" charset="-122"/>
                <a:cs typeface="Microsoft YaHei" pitchFamily="34" charset="-120"/>
              </a:rPr>
              <a:t>：效果显著</a:t>
            </a:r>
            <a:endParaRPr lang="en-US" sz="2250" dirty="0"/>
          </a:p>
        </p:txBody>
      </p:sp>
      <p:sp>
        <p:nvSpPr>
          <p:cNvPr id="5" name="Text 2">
            <a:extLst>
              <a:ext uri="{FF2B5EF4-FFF2-40B4-BE49-F238E27FC236}">
                <a16:creationId xmlns:a16="http://schemas.microsoft.com/office/drawing/2014/main" id="{CEAD8EB9-E161-001E-3BC0-E870C7571276}"/>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descr="图表&#10;&#10;AI 生成的内容可能不正确。">
            <a:extLst>
              <a:ext uri="{FF2B5EF4-FFF2-40B4-BE49-F238E27FC236}">
                <a16:creationId xmlns:a16="http://schemas.microsoft.com/office/drawing/2014/main" id="{EEF2D585-B9BC-5AF8-5E6E-EC96DA4F291F}"/>
              </a:ext>
            </a:extLst>
          </p:cNvPr>
          <p:cNvPicPr>
            <a:picLocks noChangeAspect="1"/>
          </p:cNvPicPr>
          <p:nvPr/>
        </p:nvPicPr>
        <p:blipFill>
          <a:blip r:embed="rId4"/>
          <a:stretch>
            <a:fillRect/>
          </a:stretch>
        </p:blipFill>
        <p:spPr>
          <a:xfrm>
            <a:off x="162391" y="1409700"/>
            <a:ext cx="2840193" cy="1890001"/>
          </a:xfrm>
          <a:prstGeom prst="rect">
            <a:avLst/>
          </a:prstGeom>
        </p:spPr>
      </p:pic>
      <p:pic>
        <p:nvPicPr>
          <p:cNvPr id="21" name="图片 20" descr="图表, 折线图&#10;&#10;AI 生成的内容可能不正确。">
            <a:extLst>
              <a:ext uri="{FF2B5EF4-FFF2-40B4-BE49-F238E27FC236}">
                <a16:creationId xmlns:a16="http://schemas.microsoft.com/office/drawing/2014/main" id="{D9D551D0-6188-A4A5-F7F0-FDB02C000FE5}"/>
              </a:ext>
            </a:extLst>
          </p:cNvPr>
          <p:cNvPicPr>
            <a:picLocks noChangeAspect="1"/>
          </p:cNvPicPr>
          <p:nvPr/>
        </p:nvPicPr>
        <p:blipFill>
          <a:blip r:embed="rId5"/>
          <a:stretch>
            <a:fillRect/>
          </a:stretch>
        </p:blipFill>
        <p:spPr>
          <a:xfrm>
            <a:off x="3055123" y="1409700"/>
            <a:ext cx="2943530" cy="1890001"/>
          </a:xfrm>
          <a:prstGeom prst="rect">
            <a:avLst/>
          </a:prstGeom>
        </p:spPr>
      </p:pic>
      <p:pic>
        <p:nvPicPr>
          <p:cNvPr id="23" name="图片 22" descr="图表, 折线图&#10;&#10;AI 生成的内容可能不正确。">
            <a:extLst>
              <a:ext uri="{FF2B5EF4-FFF2-40B4-BE49-F238E27FC236}">
                <a16:creationId xmlns:a16="http://schemas.microsoft.com/office/drawing/2014/main" id="{1C7776B9-0BD9-C56F-EC51-65A3D6A9DEA8}"/>
              </a:ext>
            </a:extLst>
          </p:cNvPr>
          <p:cNvPicPr>
            <a:picLocks noChangeAspect="1"/>
          </p:cNvPicPr>
          <p:nvPr/>
        </p:nvPicPr>
        <p:blipFill>
          <a:blip r:embed="rId6"/>
          <a:stretch>
            <a:fillRect/>
          </a:stretch>
        </p:blipFill>
        <p:spPr>
          <a:xfrm>
            <a:off x="6051192" y="1409700"/>
            <a:ext cx="2930417" cy="1890001"/>
          </a:xfrm>
          <a:prstGeom prst="rect">
            <a:avLst/>
          </a:prstGeom>
        </p:spPr>
      </p:pic>
      <p:sp>
        <p:nvSpPr>
          <p:cNvPr id="24" name="Text 3">
            <a:extLst>
              <a:ext uri="{FF2B5EF4-FFF2-40B4-BE49-F238E27FC236}">
                <a16:creationId xmlns:a16="http://schemas.microsoft.com/office/drawing/2014/main" id="{2CB72D78-75B4-9769-38F7-E4A82E59D12D}"/>
              </a:ext>
            </a:extLst>
          </p:cNvPr>
          <p:cNvSpPr/>
          <p:nvPr/>
        </p:nvSpPr>
        <p:spPr>
          <a:xfrm>
            <a:off x="880110"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BiRNN</a:t>
            </a:r>
            <a:r>
              <a:rPr lang="en-US" altLang="zh-CN" sz="1200" b="1" dirty="0"/>
              <a:t> epoch=3</a:t>
            </a:r>
            <a:endParaRPr lang="en-US" sz="1200" b="1" dirty="0"/>
          </a:p>
        </p:txBody>
      </p:sp>
      <p:sp>
        <p:nvSpPr>
          <p:cNvPr id="25" name="Text 3">
            <a:extLst>
              <a:ext uri="{FF2B5EF4-FFF2-40B4-BE49-F238E27FC236}">
                <a16:creationId xmlns:a16="http://schemas.microsoft.com/office/drawing/2014/main" id="{34F8B478-F309-C6B4-E652-875848DD1A7F}"/>
              </a:ext>
            </a:extLst>
          </p:cNvPr>
          <p:cNvSpPr/>
          <p:nvPr/>
        </p:nvSpPr>
        <p:spPr>
          <a:xfrm>
            <a:off x="3764888"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TextCNN</a:t>
            </a:r>
            <a:r>
              <a:rPr lang="en-US" altLang="zh-CN" sz="1200" b="1" dirty="0"/>
              <a:t> epoch=3</a:t>
            </a:r>
            <a:endParaRPr lang="en-US" sz="1200" b="1" dirty="0"/>
          </a:p>
        </p:txBody>
      </p:sp>
      <p:sp>
        <p:nvSpPr>
          <p:cNvPr id="26" name="Text 3">
            <a:extLst>
              <a:ext uri="{FF2B5EF4-FFF2-40B4-BE49-F238E27FC236}">
                <a16:creationId xmlns:a16="http://schemas.microsoft.com/office/drawing/2014/main" id="{DA00C68B-105E-B0CD-C5F9-EB5423D20806}"/>
              </a:ext>
            </a:extLst>
          </p:cNvPr>
          <p:cNvSpPr/>
          <p:nvPr/>
        </p:nvSpPr>
        <p:spPr>
          <a:xfrm>
            <a:off x="6754400" y="379095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err="1"/>
              <a:t>TextCNN</a:t>
            </a:r>
            <a:r>
              <a:rPr lang="en-US" altLang="zh-CN" sz="1200" b="1" dirty="0"/>
              <a:t> epoch=5</a:t>
            </a:r>
            <a:endParaRPr lang="en-US" sz="1200" b="1" dirty="0"/>
          </a:p>
        </p:txBody>
      </p:sp>
    </p:spTree>
    <p:extLst>
      <p:ext uri="{BB962C8B-B14F-4D97-AF65-F5344CB8AC3E}">
        <p14:creationId xmlns:p14="http://schemas.microsoft.com/office/powerpoint/2010/main" val="194988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预测分析与持续优化</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05</a:t>
            </a:r>
            <a:endParaRPr lang="en-US" sz="22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爬取数据</a:t>
            </a:r>
            <a:r>
              <a:rPr lang="en-US" sz="2250" b="1" dirty="0" err="1">
                <a:solidFill>
                  <a:srgbClr val="FFFFFF"/>
                </a:solidFill>
                <a:latin typeface="Microsoft YaHei" pitchFamily="34" charset="0"/>
                <a:ea typeface="Microsoft YaHei" pitchFamily="34" charset="-122"/>
                <a:cs typeface="Microsoft YaHei" pitchFamily="34" charset="-120"/>
              </a:rPr>
              <a:t>预测结果</a:t>
            </a:r>
            <a:r>
              <a:rPr lang="zh-CN" altLang="en-US" sz="2250" b="1" dirty="0">
                <a:solidFill>
                  <a:srgbClr val="FFFFFF"/>
                </a:solidFill>
                <a:latin typeface="Microsoft YaHei" pitchFamily="34" charset="0"/>
                <a:ea typeface="Microsoft YaHei" pitchFamily="34" charset="-122"/>
                <a:cs typeface="Microsoft YaHei" pitchFamily="34" charset="-120"/>
              </a:rPr>
              <a:t>：不理想</a:t>
            </a:r>
            <a:endParaRPr lang="en-US" altLang="zh-CN" sz="2250" b="1" dirty="0">
              <a:solidFill>
                <a:srgbClr val="FFFFFF"/>
              </a:solidFill>
              <a:latin typeface="Microsoft YaHei" pitchFamily="34" charset="0"/>
              <a:ea typeface="Microsoft YaHei" pitchFamily="34" charset="-122"/>
              <a:cs typeface="Microsoft YaHei" pitchFamily="34" charset="-120"/>
            </a:endParaRPr>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9" name="图片 18" descr="图形用户界面, 文本, 应用程序, 电子邮件&#10;&#10;AI 生成的内容可能不正确。">
            <a:extLst>
              <a:ext uri="{FF2B5EF4-FFF2-40B4-BE49-F238E27FC236}">
                <a16:creationId xmlns:a16="http://schemas.microsoft.com/office/drawing/2014/main" id="{8D548DDD-1D65-4466-5FE1-8AC9047740C6}"/>
              </a:ext>
            </a:extLst>
          </p:cNvPr>
          <p:cNvPicPr>
            <a:picLocks noChangeAspect="1"/>
          </p:cNvPicPr>
          <p:nvPr/>
        </p:nvPicPr>
        <p:blipFill>
          <a:blip r:embed="rId4"/>
          <a:stretch>
            <a:fillRect/>
          </a:stretch>
        </p:blipFill>
        <p:spPr>
          <a:xfrm>
            <a:off x="2194547" y="1143000"/>
            <a:ext cx="4328174" cy="36427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icPr>
            <a:picLocks noChangeAspect="1"/>
          </p:cNvPicPr>
          <p:nvPr/>
        </p:nvPicPr>
        <p:blipFill>
          <a:blip r:embed="rId3"/>
          <a:srcRect l="9302" r="9302"/>
          <a:stretch/>
        </p:blipFill>
        <p:spPr>
          <a:xfrm>
            <a:off x="0" y="0"/>
            <a:ext cx="9144000" cy="1638300"/>
          </a:xfrm>
          <a:prstGeom prst="rect">
            <a:avLst/>
          </a:prstGeom>
        </p:spPr>
      </p:pic>
      <p:sp>
        <p:nvSpPr>
          <p:cNvPr id="4" name="Text 1"/>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模型层面分析</a:t>
            </a:r>
            <a:r>
              <a:rPr lang="en-US" altLang="zh-CN" sz="2250" b="1" dirty="0">
                <a:solidFill>
                  <a:srgbClr val="FFFFFF"/>
                </a:solidFill>
                <a:latin typeface="Microsoft YaHei" pitchFamily="34" charset="0"/>
                <a:ea typeface="Microsoft YaHei" pitchFamily="34" charset="-122"/>
                <a:cs typeface="Microsoft YaHei" pitchFamily="34" charset="-120"/>
              </a:rPr>
              <a:t>——AI</a:t>
            </a:r>
            <a:r>
              <a:rPr lang="zh-CN" altLang="en-US" sz="2250" b="1" dirty="0">
                <a:solidFill>
                  <a:srgbClr val="FFFFFF"/>
                </a:solidFill>
                <a:latin typeface="Microsoft YaHei" pitchFamily="34" charset="0"/>
                <a:ea typeface="Microsoft YaHei" pitchFamily="34" charset="-122"/>
                <a:cs typeface="Microsoft YaHei" pitchFamily="34" charset="-120"/>
              </a:rPr>
              <a:t>辅助计算参数</a:t>
            </a:r>
            <a:endParaRPr lang="en-US" sz="2250" dirty="0"/>
          </a:p>
        </p:txBody>
      </p:sp>
      <p:sp>
        <p:nvSpPr>
          <p:cNvPr id="5" name="Text 2"/>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16" name="图片 15" descr="屏幕的截图&#10;&#10;AI 生成的内容可能不正确。">
            <a:extLst>
              <a:ext uri="{FF2B5EF4-FFF2-40B4-BE49-F238E27FC236}">
                <a16:creationId xmlns:a16="http://schemas.microsoft.com/office/drawing/2014/main" id="{CCB051F2-D4D8-9603-8BC9-118853507D3B}"/>
              </a:ext>
            </a:extLst>
          </p:cNvPr>
          <p:cNvPicPr>
            <a:picLocks noChangeAspect="1"/>
          </p:cNvPicPr>
          <p:nvPr/>
        </p:nvPicPr>
        <p:blipFill>
          <a:blip r:embed="rId4"/>
          <a:stretch>
            <a:fillRect/>
          </a:stretch>
        </p:blipFill>
        <p:spPr>
          <a:xfrm>
            <a:off x="2440939" y="1768890"/>
            <a:ext cx="6266181" cy="2268790"/>
          </a:xfrm>
          <a:prstGeom prst="rect">
            <a:avLst/>
          </a:prstGeom>
        </p:spPr>
      </p:pic>
      <p:sp>
        <p:nvSpPr>
          <p:cNvPr id="17" name="Text 3">
            <a:extLst>
              <a:ext uri="{FF2B5EF4-FFF2-40B4-BE49-F238E27FC236}">
                <a16:creationId xmlns:a16="http://schemas.microsoft.com/office/drawing/2014/main" id="{E6336D67-EDB4-35EA-054D-2FB01391F136}"/>
              </a:ext>
            </a:extLst>
          </p:cNvPr>
          <p:cNvSpPr/>
          <p:nvPr/>
        </p:nvSpPr>
        <p:spPr>
          <a:xfrm>
            <a:off x="571500" y="279851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a:t>AI</a:t>
            </a:r>
            <a:r>
              <a:rPr lang="zh-CN" altLang="en-US" sz="1200" b="1" dirty="0"/>
              <a:t>辅助观测</a:t>
            </a:r>
            <a:endParaRPr lang="en-US" sz="1200" b="1" dirty="0"/>
          </a:p>
        </p:txBody>
      </p:sp>
      <p:sp>
        <p:nvSpPr>
          <p:cNvPr id="18" name="Text 3">
            <a:extLst>
              <a:ext uri="{FF2B5EF4-FFF2-40B4-BE49-F238E27FC236}">
                <a16:creationId xmlns:a16="http://schemas.microsoft.com/office/drawing/2014/main" id="{889FF322-A799-6EB5-FA44-DB19B0F5E4FB}"/>
              </a:ext>
            </a:extLst>
          </p:cNvPr>
          <p:cNvSpPr/>
          <p:nvPr/>
        </p:nvSpPr>
        <p:spPr>
          <a:xfrm>
            <a:off x="624840" y="4246310"/>
            <a:ext cx="1524000" cy="209550"/>
          </a:xfrm>
          <a:prstGeom prst="rect">
            <a:avLst/>
          </a:prstGeom>
          <a:noFill/>
          <a:ln/>
        </p:spPr>
        <p:txBody>
          <a:bodyPr vert="horz" wrap="square" lIns="0" tIns="0" rIns="0" bIns="0" rtlCol="0" anchor="ctr"/>
          <a:lstStyle/>
          <a:p>
            <a:pPr marL="0" indent="0" algn="ctr">
              <a:lnSpc>
                <a:spcPts val="1650"/>
              </a:lnSpc>
              <a:buNone/>
            </a:pPr>
            <a:r>
              <a:rPr lang="en-US" altLang="zh-CN" sz="1200" b="1" dirty="0"/>
              <a:t>AI</a:t>
            </a:r>
            <a:r>
              <a:rPr lang="zh-CN" altLang="en-US" sz="1200" b="1" dirty="0"/>
              <a:t>推荐方案</a:t>
            </a:r>
            <a:endParaRPr lang="en-US" sz="1200" b="1" dirty="0"/>
          </a:p>
        </p:txBody>
      </p:sp>
      <p:sp>
        <p:nvSpPr>
          <p:cNvPr id="20" name="文本框 19">
            <a:extLst>
              <a:ext uri="{FF2B5EF4-FFF2-40B4-BE49-F238E27FC236}">
                <a16:creationId xmlns:a16="http://schemas.microsoft.com/office/drawing/2014/main" id="{1ABDC8B8-2033-5E2A-D71D-9DABDD4E1A22}"/>
              </a:ext>
            </a:extLst>
          </p:cNvPr>
          <p:cNvSpPr txBox="1"/>
          <p:nvPr/>
        </p:nvSpPr>
        <p:spPr>
          <a:xfrm>
            <a:off x="2385059" y="4197196"/>
            <a:ext cx="6344921" cy="307777"/>
          </a:xfrm>
          <a:prstGeom prst="rect">
            <a:avLst/>
          </a:prstGeom>
          <a:noFill/>
        </p:spPr>
        <p:txBody>
          <a:bodyPr wrap="square">
            <a:spAutoFit/>
          </a:bodyPr>
          <a:lstStyle/>
          <a:p>
            <a:pPr algn="l">
              <a:spcBef>
                <a:spcPts val="600"/>
              </a:spcBef>
              <a:spcAft>
                <a:spcPts val="600"/>
              </a:spcAft>
            </a:pPr>
            <a:r>
              <a:rPr lang="zh-CN" altLang="en-US" sz="1400" b="1" i="0" dirty="0">
                <a:effectLst/>
                <a:latin typeface="-apple-system"/>
              </a:rPr>
              <a:t>给 </a:t>
            </a:r>
            <a:r>
              <a:rPr lang="en-US" altLang="zh-CN" sz="1400" b="1" i="0" dirty="0" err="1">
                <a:effectLst/>
                <a:latin typeface="-apple-system"/>
              </a:rPr>
              <a:t>BiRNN</a:t>
            </a:r>
            <a:r>
              <a:rPr lang="en-US" altLang="zh-CN" sz="1400" b="1" i="0" dirty="0">
                <a:effectLst/>
                <a:latin typeface="-apple-system"/>
              </a:rPr>
              <a:t> </a:t>
            </a:r>
            <a:r>
              <a:rPr lang="zh-CN" altLang="en-US" sz="1400" b="1" i="0" dirty="0">
                <a:effectLst/>
                <a:latin typeface="-apple-system"/>
              </a:rPr>
              <a:t>加 </a:t>
            </a:r>
            <a:r>
              <a:rPr lang="en-US" altLang="zh-CN" sz="1400" b="1" i="0" dirty="0">
                <a:effectLst/>
                <a:latin typeface="-apple-system"/>
              </a:rPr>
              <a:t>dropout </a:t>
            </a:r>
            <a:r>
              <a:rPr lang="zh-CN" altLang="en-US" sz="1400" b="1" i="0" dirty="0">
                <a:effectLst/>
                <a:latin typeface="-apple-system"/>
              </a:rPr>
              <a:t>和早停</a:t>
            </a:r>
            <a:r>
              <a:rPr lang="zh-CN" altLang="en-US" sz="1400" b="0" i="0" dirty="0">
                <a:effectLst/>
                <a:latin typeface="-apple-system"/>
              </a:rPr>
              <a:t>，即可兼顾其高精度与泛化能力。</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2C206-A64B-411F-5C13-E6817801E0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B86DB0-7E84-4888-4EDB-5CF475286781}"/>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056B6814-F9EA-8BA4-9D90-B5E6A2521E85}"/>
              </a:ext>
            </a:extLst>
          </p:cNvPr>
          <p:cNvPicPr>
            <a:picLocks noChangeAspect="1"/>
          </p:cNvPicPr>
          <p:nvPr/>
        </p:nvPicPr>
        <p:blipFill>
          <a:blip r:embed="rId3"/>
          <a:srcRect l="9302" r="9302"/>
          <a:stretch/>
        </p:blipFill>
        <p:spPr>
          <a:xfrm>
            <a:off x="0" y="0"/>
            <a:ext cx="9144000" cy="1638300"/>
          </a:xfrm>
          <a:prstGeom prst="rect">
            <a:avLst/>
          </a:prstGeom>
        </p:spPr>
      </p:pic>
      <p:sp>
        <p:nvSpPr>
          <p:cNvPr id="4" name="Text 1">
            <a:extLst>
              <a:ext uri="{FF2B5EF4-FFF2-40B4-BE49-F238E27FC236}">
                <a16:creationId xmlns:a16="http://schemas.microsoft.com/office/drawing/2014/main" id="{60590E83-35F6-3340-86FA-85EDBBCD74E2}"/>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预测错误数据层面</a:t>
            </a:r>
            <a:r>
              <a:rPr lang="en-US" altLang="zh-CN" sz="2250" b="1" dirty="0">
                <a:solidFill>
                  <a:srgbClr val="FFFFFF"/>
                </a:solidFill>
                <a:latin typeface="Microsoft YaHei" pitchFamily="34" charset="0"/>
                <a:ea typeface="Microsoft YaHei" pitchFamily="34" charset="-122"/>
                <a:cs typeface="Microsoft YaHei" pitchFamily="34" charset="-120"/>
              </a:rPr>
              <a:t>——</a:t>
            </a:r>
            <a:r>
              <a:rPr lang="zh-CN" altLang="en-US" sz="2250" b="1" dirty="0">
                <a:solidFill>
                  <a:srgbClr val="FFFFFF"/>
                </a:solidFill>
                <a:latin typeface="Microsoft YaHei" pitchFamily="34" charset="0"/>
                <a:ea typeface="Microsoft YaHei" pitchFamily="34" charset="-122"/>
                <a:cs typeface="Microsoft YaHei" pitchFamily="34" charset="-120"/>
              </a:rPr>
              <a:t>图表展示</a:t>
            </a:r>
            <a:endParaRPr lang="en-US" sz="2250" dirty="0"/>
          </a:p>
        </p:txBody>
      </p:sp>
      <p:sp>
        <p:nvSpPr>
          <p:cNvPr id="5" name="Text 2">
            <a:extLst>
              <a:ext uri="{FF2B5EF4-FFF2-40B4-BE49-F238E27FC236}">
                <a16:creationId xmlns:a16="http://schemas.microsoft.com/office/drawing/2014/main" id="{156149E6-3FBC-7158-5A6F-18746B45BC39}"/>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pic>
        <p:nvPicPr>
          <p:cNvPr id="7" name="图片 6" descr="图形用户界面, 图表, 饼图&#10;&#10;AI 生成的内容可能不正确。">
            <a:extLst>
              <a:ext uri="{FF2B5EF4-FFF2-40B4-BE49-F238E27FC236}">
                <a16:creationId xmlns:a16="http://schemas.microsoft.com/office/drawing/2014/main" id="{7BAAA329-F2DC-8946-D723-41145B88A799}"/>
              </a:ext>
            </a:extLst>
          </p:cNvPr>
          <p:cNvPicPr>
            <a:picLocks noChangeAspect="1"/>
          </p:cNvPicPr>
          <p:nvPr/>
        </p:nvPicPr>
        <p:blipFill>
          <a:blip r:embed="rId4"/>
          <a:stretch>
            <a:fillRect/>
          </a:stretch>
        </p:blipFill>
        <p:spPr>
          <a:xfrm>
            <a:off x="2898626" y="990600"/>
            <a:ext cx="6079592" cy="4000500"/>
          </a:xfrm>
          <a:prstGeom prst="rect">
            <a:avLst/>
          </a:prstGeom>
        </p:spPr>
      </p:pic>
    </p:spTree>
    <p:extLst>
      <p:ext uri="{BB962C8B-B14F-4D97-AF65-F5344CB8AC3E}">
        <p14:creationId xmlns:p14="http://schemas.microsoft.com/office/powerpoint/2010/main" val="1963943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CE946-6055-05ED-9C85-4F934013FD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BFB2DE-0F39-F4C4-3DA8-AB40D535E639}"/>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DB715A17-AE8F-31B4-0736-95E4438EB6CB}"/>
              </a:ext>
            </a:extLst>
          </p:cNvPr>
          <p:cNvPicPr>
            <a:picLocks noChangeAspect="1"/>
          </p:cNvPicPr>
          <p:nvPr/>
        </p:nvPicPr>
        <p:blipFill>
          <a:blip r:embed="rId3"/>
          <a:srcRect l="9302" r="9302"/>
          <a:stretch/>
        </p:blipFill>
        <p:spPr>
          <a:xfrm>
            <a:off x="0" y="0"/>
            <a:ext cx="9144000" cy="1638300"/>
          </a:xfrm>
          <a:prstGeom prst="rect">
            <a:avLst/>
          </a:prstGeom>
        </p:spPr>
      </p:pic>
      <p:sp>
        <p:nvSpPr>
          <p:cNvPr id="4" name="Text 1">
            <a:extLst>
              <a:ext uri="{FF2B5EF4-FFF2-40B4-BE49-F238E27FC236}">
                <a16:creationId xmlns:a16="http://schemas.microsoft.com/office/drawing/2014/main" id="{94939CD9-0F3D-C40B-28CB-E50E920C1D4F}"/>
              </a:ext>
            </a:extLst>
          </p:cNvPr>
          <p:cNvSpPr/>
          <p:nvPr/>
        </p:nvSpPr>
        <p:spPr>
          <a:xfrm>
            <a:off x="571500" y="285750"/>
            <a:ext cx="8001000"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预测错误数据层面分析（一）</a:t>
            </a:r>
            <a:r>
              <a:rPr lang="en-US" altLang="zh-CN" sz="2250" b="1" dirty="0">
                <a:solidFill>
                  <a:srgbClr val="FFFFFF"/>
                </a:solidFill>
                <a:latin typeface="Microsoft YaHei" pitchFamily="34" charset="0"/>
                <a:ea typeface="Microsoft YaHei" pitchFamily="34" charset="-122"/>
                <a:cs typeface="Microsoft YaHei" pitchFamily="34" charset="-120"/>
              </a:rPr>
              <a:t>——</a:t>
            </a:r>
            <a:r>
              <a:rPr lang="zh-CN" altLang="en-US" sz="2250" b="1" dirty="0">
                <a:solidFill>
                  <a:srgbClr val="FFFFFF"/>
                </a:solidFill>
                <a:latin typeface="Microsoft YaHei" pitchFamily="34" charset="0"/>
                <a:ea typeface="Microsoft YaHei" pitchFamily="34" charset="-122"/>
                <a:cs typeface="Microsoft YaHei" pitchFamily="34" charset="-120"/>
              </a:rPr>
              <a:t>文本长度箱线图</a:t>
            </a:r>
            <a:endParaRPr lang="en-US" sz="2250" dirty="0"/>
          </a:p>
        </p:txBody>
      </p:sp>
      <p:sp>
        <p:nvSpPr>
          <p:cNvPr id="5" name="Text 2">
            <a:extLst>
              <a:ext uri="{FF2B5EF4-FFF2-40B4-BE49-F238E27FC236}">
                <a16:creationId xmlns:a16="http://schemas.microsoft.com/office/drawing/2014/main" id="{54CF6EC0-E15D-7433-3587-0F9C96201BB7}"/>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DB7526DB-396D-DA84-0442-44811A6E91C1}"/>
              </a:ext>
            </a:extLst>
          </p:cNvPr>
          <p:cNvSpPr txBox="1"/>
          <p:nvPr/>
        </p:nvSpPr>
        <p:spPr>
          <a:xfrm>
            <a:off x="877824" y="1739384"/>
            <a:ext cx="5754624" cy="1200329"/>
          </a:xfrm>
          <a:prstGeom prst="rect">
            <a:avLst/>
          </a:prstGeom>
          <a:noFill/>
        </p:spPr>
        <p:txBody>
          <a:bodyPr wrap="square" rtlCol="0">
            <a:spAutoFit/>
          </a:bodyPr>
          <a:lstStyle/>
          <a:p>
            <a:r>
              <a:rPr lang="zh-CN" altLang="en-US" dirty="0"/>
              <a:t>数据特点：</a:t>
            </a:r>
            <a:endParaRPr lang="en-US" altLang="zh-CN" dirty="0"/>
          </a:p>
          <a:p>
            <a:pPr marL="342900" indent="-342900">
              <a:buFont typeface="+mj-lt"/>
              <a:buAutoNum type="arabicPeriod"/>
            </a:pPr>
            <a:r>
              <a:rPr lang="zh-CN" altLang="en-US" b="1" dirty="0"/>
              <a:t>存在明显长尾</a:t>
            </a:r>
            <a:r>
              <a:rPr lang="zh-CN" altLang="en-US" dirty="0"/>
              <a:t>，最大值接近 </a:t>
            </a:r>
            <a:r>
              <a:rPr lang="en-US" altLang="zh-CN" dirty="0"/>
              <a:t>200</a:t>
            </a:r>
            <a:r>
              <a:rPr lang="zh-CN" altLang="en-US" dirty="0"/>
              <a:t>，</a:t>
            </a:r>
            <a:endParaRPr lang="en-US" altLang="zh-CN" dirty="0"/>
          </a:p>
          <a:p>
            <a:pPr marL="342900" indent="-342900">
              <a:buFont typeface="+mj-lt"/>
              <a:buAutoNum type="arabicPeriod"/>
            </a:pPr>
            <a:r>
              <a:rPr lang="zh-CN" altLang="en-US" b="1" dirty="0"/>
              <a:t>整体偏移向右</a:t>
            </a:r>
            <a:r>
              <a:rPr lang="zh-CN" altLang="en-US" dirty="0"/>
              <a:t> → 错误样本多集中在</a:t>
            </a:r>
            <a:r>
              <a:rPr lang="zh-CN" altLang="en-US" b="1" dirty="0"/>
              <a:t>中等偏长文本</a:t>
            </a:r>
            <a:endParaRPr lang="zh-CN" altLang="en-US" dirty="0"/>
          </a:p>
          <a:p>
            <a:pPr marL="342900" indent="-342900">
              <a:buFont typeface="+mj-lt"/>
              <a:buAutoNum type="arabicPeriod"/>
            </a:pPr>
            <a:endParaRPr lang="zh-CN" altLang="en-US" dirty="0"/>
          </a:p>
        </p:txBody>
      </p:sp>
      <p:sp>
        <p:nvSpPr>
          <p:cNvPr id="8" name="文本框 7">
            <a:extLst>
              <a:ext uri="{FF2B5EF4-FFF2-40B4-BE49-F238E27FC236}">
                <a16:creationId xmlns:a16="http://schemas.microsoft.com/office/drawing/2014/main" id="{6D7BC8C9-8F55-A2F1-149E-87DEA3F2D4B8}"/>
              </a:ext>
            </a:extLst>
          </p:cNvPr>
          <p:cNvSpPr txBox="1"/>
          <p:nvPr/>
        </p:nvSpPr>
        <p:spPr>
          <a:xfrm>
            <a:off x="877824" y="2939713"/>
            <a:ext cx="5754624" cy="1754326"/>
          </a:xfrm>
          <a:prstGeom prst="rect">
            <a:avLst/>
          </a:prstGeom>
          <a:noFill/>
        </p:spPr>
        <p:txBody>
          <a:bodyPr wrap="square" rtlCol="0">
            <a:spAutoFit/>
          </a:bodyPr>
          <a:lstStyle/>
          <a:p>
            <a:r>
              <a:rPr lang="zh-CN" altLang="en-US" dirty="0"/>
              <a:t>优化方案：</a:t>
            </a:r>
            <a:endParaRPr lang="en-US" altLang="zh-CN" dirty="0"/>
          </a:p>
          <a:p>
            <a:pPr marL="342900" indent="-342900">
              <a:buFont typeface="+mj-lt"/>
              <a:buAutoNum type="arabicPeriod"/>
            </a:pPr>
            <a:r>
              <a:rPr lang="zh-CN" altLang="en-US" b="1" dirty="0"/>
              <a:t>截断</a:t>
            </a:r>
            <a:r>
              <a:rPr lang="en-US" altLang="zh-CN" b="1" dirty="0"/>
              <a:t>/</a:t>
            </a:r>
            <a:r>
              <a:rPr lang="zh-CN" altLang="en-US" b="1" dirty="0"/>
              <a:t>填充策略优化</a:t>
            </a:r>
            <a:r>
              <a:rPr lang="zh-CN" altLang="en-US" dirty="0"/>
              <a:t>：当前模型可能未处理好超长文本（如 </a:t>
            </a:r>
            <a:r>
              <a:rPr lang="en-US" altLang="zh-CN" dirty="0"/>
              <a:t>&gt;100</a:t>
            </a:r>
            <a:r>
              <a:rPr lang="zh-CN" altLang="en-US" dirty="0"/>
              <a:t>）</a:t>
            </a:r>
            <a:endParaRPr lang="en-US" altLang="zh-CN" dirty="0"/>
          </a:p>
          <a:p>
            <a:pPr marL="342900" indent="-342900">
              <a:buFont typeface="+mj-lt"/>
              <a:buAutoNum type="arabicPeriod"/>
            </a:pPr>
            <a:r>
              <a:rPr lang="zh-CN" altLang="en-US" b="1" dirty="0"/>
              <a:t>增强长文本建模能力</a:t>
            </a:r>
            <a:r>
              <a:rPr lang="zh-CN" altLang="en-US" dirty="0"/>
              <a:t>：使用 </a:t>
            </a:r>
            <a:r>
              <a:rPr lang="en-US" altLang="zh-CN" b="1" dirty="0"/>
              <a:t>Transformer</a:t>
            </a:r>
            <a:r>
              <a:rPr lang="en-US" altLang="zh-CN" dirty="0"/>
              <a:t> </a:t>
            </a:r>
            <a:r>
              <a:rPr lang="zh-CN" altLang="en-US" dirty="0"/>
              <a:t>替代 </a:t>
            </a:r>
            <a:r>
              <a:rPr lang="en-US" altLang="zh-CN" dirty="0" err="1"/>
              <a:t>BiRNN</a:t>
            </a:r>
            <a:endParaRPr lang="en-US" altLang="zh-CN" dirty="0"/>
          </a:p>
          <a:p>
            <a:pPr marL="342900" indent="-342900">
              <a:buFont typeface="+mj-lt"/>
              <a:buAutoNum type="arabicPeriod"/>
            </a:pPr>
            <a:r>
              <a:rPr lang="zh-CN" altLang="en-US" b="1" dirty="0"/>
              <a:t>对长文本做单独分析，</a:t>
            </a:r>
            <a:r>
              <a:rPr lang="zh-CN" altLang="en-US" dirty="0"/>
              <a:t>或单独训练模型</a:t>
            </a:r>
            <a:endParaRPr lang="en-US" altLang="zh-CN" dirty="0"/>
          </a:p>
          <a:p>
            <a:pPr marL="342900" indent="-342900">
              <a:buFont typeface="+mj-lt"/>
              <a:buAutoNum type="arabicPeriod"/>
            </a:pPr>
            <a:endParaRPr lang="zh-CN" altLang="en-US" dirty="0"/>
          </a:p>
        </p:txBody>
      </p:sp>
      <p:pic>
        <p:nvPicPr>
          <p:cNvPr id="10" name="图片 9" descr="图表, 箱线图&#10;&#10;AI 生成的内容可能不正确。">
            <a:extLst>
              <a:ext uri="{FF2B5EF4-FFF2-40B4-BE49-F238E27FC236}">
                <a16:creationId xmlns:a16="http://schemas.microsoft.com/office/drawing/2014/main" id="{92264D6B-F729-5950-2979-66AF41D2C569}"/>
              </a:ext>
            </a:extLst>
          </p:cNvPr>
          <p:cNvPicPr>
            <a:picLocks noChangeAspect="1"/>
          </p:cNvPicPr>
          <p:nvPr/>
        </p:nvPicPr>
        <p:blipFill>
          <a:blip r:embed="rId4"/>
          <a:stretch>
            <a:fillRect/>
          </a:stretch>
        </p:blipFill>
        <p:spPr>
          <a:xfrm>
            <a:off x="6784403" y="1925178"/>
            <a:ext cx="2207641" cy="2075322"/>
          </a:xfrm>
          <a:prstGeom prst="rect">
            <a:avLst/>
          </a:prstGeom>
        </p:spPr>
      </p:pic>
    </p:spTree>
    <p:extLst>
      <p:ext uri="{BB962C8B-B14F-4D97-AF65-F5344CB8AC3E}">
        <p14:creationId xmlns:p14="http://schemas.microsoft.com/office/powerpoint/2010/main" val="1245249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CDD77-44EC-67A9-7F61-87E154BDD5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441AEA-C6A7-1B55-3F2C-88BB489469E4}"/>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855BD096-2D06-E9AE-44C3-5D1BDA802583}"/>
              </a:ext>
            </a:extLst>
          </p:cNvPr>
          <p:cNvPicPr>
            <a:picLocks noChangeAspect="1"/>
          </p:cNvPicPr>
          <p:nvPr/>
        </p:nvPicPr>
        <p:blipFill>
          <a:blip r:embed="rId3"/>
          <a:srcRect l="9302" r="9302"/>
          <a:stretch/>
        </p:blipFill>
        <p:spPr>
          <a:xfrm>
            <a:off x="0" y="0"/>
            <a:ext cx="9144000" cy="1638300"/>
          </a:xfrm>
          <a:prstGeom prst="rect">
            <a:avLst/>
          </a:prstGeom>
        </p:spPr>
      </p:pic>
      <p:sp>
        <p:nvSpPr>
          <p:cNvPr id="4" name="Text 1">
            <a:extLst>
              <a:ext uri="{FF2B5EF4-FFF2-40B4-BE49-F238E27FC236}">
                <a16:creationId xmlns:a16="http://schemas.microsoft.com/office/drawing/2014/main" id="{A733923C-8DDF-8AAC-88F8-7269A576B7C3}"/>
              </a:ext>
            </a:extLst>
          </p:cNvPr>
          <p:cNvSpPr/>
          <p:nvPr/>
        </p:nvSpPr>
        <p:spPr>
          <a:xfrm>
            <a:off x="571500" y="285750"/>
            <a:ext cx="8188452" cy="800100"/>
          </a:xfrm>
          <a:prstGeom prst="rect">
            <a:avLst/>
          </a:prstGeom>
          <a:noFill/>
          <a:ln/>
        </p:spPr>
        <p:txBody>
          <a:bodyPr vert="horz" wrap="square" lIns="0" tIns="0" rIns="0" bIns="0" rtlCol="0" anchor="ctr"/>
          <a:lstStyle/>
          <a:p>
            <a:pPr marL="0" indent="0" algn="l">
              <a:lnSpc>
                <a:spcPts val="3150"/>
              </a:lnSpc>
              <a:buNone/>
            </a:pPr>
            <a:r>
              <a:rPr lang="zh-CN" altLang="en-US" sz="2250" b="1" dirty="0">
                <a:solidFill>
                  <a:srgbClr val="FFFFFF"/>
                </a:solidFill>
                <a:latin typeface="Microsoft YaHei" pitchFamily="34" charset="0"/>
                <a:ea typeface="Microsoft YaHei" pitchFamily="34" charset="-122"/>
                <a:cs typeface="Microsoft YaHei" pitchFamily="34" charset="-120"/>
              </a:rPr>
              <a:t>预测错误数据层面分析（二）</a:t>
            </a:r>
            <a:r>
              <a:rPr lang="en-US" altLang="zh-CN" sz="2250" b="1" dirty="0">
                <a:solidFill>
                  <a:srgbClr val="FFFFFF"/>
                </a:solidFill>
                <a:latin typeface="Microsoft YaHei" pitchFamily="34" charset="0"/>
                <a:ea typeface="Microsoft YaHei" pitchFamily="34" charset="-122"/>
                <a:cs typeface="Microsoft YaHei" pitchFamily="34" charset="-120"/>
              </a:rPr>
              <a:t>——</a:t>
            </a:r>
            <a:r>
              <a:rPr lang="zh-CN" altLang="en-US" sz="2250" b="1" dirty="0">
                <a:solidFill>
                  <a:srgbClr val="FFFFFF"/>
                </a:solidFill>
                <a:latin typeface="Microsoft YaHei" pitchFamily="34" charset="0"/>
                <a:ea typeface="Microsoft YaHei" pitchFamily="34" charset="-122"/>
                <a:cs typeface="Microsoft YaHei" pitchFamily="34" charset="-120"/>
              </a:rPr>
              <a:t>高频词对比（</a:t>
            </a:r>
            <a:r>
              <a:rPr lang="en-US" altLang="zh-CN" sz="2250" b="1" dirty="0">
                <a:solidFill>
                  <a:srgbClr val="FFFFFF"/>
                </a:solidFill>
                <a:latin typeface="Microsoft YaHei" pitchFamily="34" charset="0"/>
                <a:ea typeface="Microsoft YaHei" pitchFamily="34" charset="-122"/>
                <a:cs typeface="Microsoft YaHei" pitchFamily="34" charset="-120"/>
              </a:rPr>
              <a:t>Top 10</a:t>
            </a:r>
            <a:r>
              <a:rPr lang="zh-CN" altLang="en-US" sz="2250" b="1" dirty="0">
                <a:solidFill>
                  <a:srgbClr val="FFFFFF"/>
                </a:solidFill>
                <a:latin typeface="Microsoft YaHei" pitchFamily="34" charset="0"/>
                <a:ea typeface="Microsoft YaHei" pitchFamily="34" charset="-122"/>
                <a:cs typeface="Microsoft YaHei" pitchFamily="34" charset="-120"/>
              </a:rPr>
              <a:t>）柱状图</a:t>
            </a:r>
            <a:endParaRPr lang="en-US" sz="2250" dirty="0"/>
          </a:p>
        </p:txBody>
      </p:sp>
      <p:sp>
        <p:nvSpPr>
          <p:cNvPr id="5" name="Text 2">
            <a:extLst>
              <a:ext uri="{FF2B5EF4-FFF2-40B4-BE49-F238E27FC236}">
                <a16:creationId xmlns:a16="http://schemas.microsoft.com/office/drawing/2014/main" id="{82B0F3B1-A224-3192-945B-B8A6198B020E}"/>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5BB969CE-2C87-F5FD-2C58-8A9D499F17CB}"/>
              </a:ext>
            </a:extLst>
          </p:cNvPr>
          <p:cNvSpPr txBox="1"/>
          <p:nvPr/>
        </p:nvSpPr>
        <p:spPr>
          <a:xfrm>
            <a:off x="877824" y="1739384"/>
            <a:ext cx="5754624" cy="1569660"/>
          </a:xfrm>
          <a:prstGeom prst="rect">
            <a:avLst/>
          </a:prstGeom>
          <a:noFill/>
        </p:spPr>
        <p:txBody>
          <a:bodyPr wrap="square" rtlCol="0">
            <a:spAutoFit/>
          </a:bodyPr>
          <a:lstStyle/>
          <a:p>
            <a:r>
              <a:rPr lang="zh-CN" altLang="en-US" sz="1200" dirty="0"/>
              <a:t>深度思考：为什么错误样本中缺少这些常用词？</a:t>
            </a:r>
            <a:endParaRPr lang="en-US" altLang="zh-CN" sz="1200" dirty="0"/>
          </a:p>
          <a:p>
            <a:pPr fontAlgn="t"/>
            <a:r>
              <a:rPr lang="zh-CN" altLang="en-US" sz="1200" b="1" dirty="0"/>
              <a:t>文本长度短或不完整</a:t>
            </a:r>
            <a:endParaRPr lang="zh-CN" altLang="en-US" sz="1200" dirty="0"/>
          </a:p>
          <a:p>
            <a:pPr lvl="1"/>
            <a:r>
              <a:rPr lang="zh-CN" altLang="en-US" sz="1200" dirty="0"/>
              <a:t>错误样本可能多为</a:t>
            </a:r>
            <a:r>
              <a:rPr lang="zh-CN" altLang="en-US" sz="1200" b="1" dirty="0"/>
              <a:t>短文本、碎片化内容</a:t>
            </a:r>
            <a:r>
              <a:rPr lang="zh-CN" altLang="en-US" sz="1200" dirty="0"/>
              <a:t>（如关键词、标题、无标点句子）</a:t>
            </a:r>
          </a:p>
          <a:p>
            <a:pPr lvl="1"/>
            <a:r>
              <a:rPr lang="zh-CN" altLang="en-US" sz="1200" dirty="0"/>
              <a:t>缺少句号、助词、连接词 → 表达不完整，信息缺失。错误样本的语言结构更简单、更不完整，缺少正常的中文语法特征。这意味着模型可能对语法完整性敏感。</a:t>
            </a:r>
            <a:endParaRPr lang="en-US" altLang="zh-CN" sz="1200" dirty="0"/>
          </a:p>
          <a:p>
            <a:pPr lvl="1"/>
            <a:endParaRPr lang="zh-CN" altLang="en-US" sz="1200" dirty="0"/>
          </a:p>
          <a:p>
            <a:pPr marL="342900" indent="-342900">
              <a:buFont typeface="+mj-lt"/>
              <a:buAutoNum type="arabicPeriod"/>
            </a:pPr>
            <a:endParaRPr lang="zh-CN" altLang="en-US" sz="1200" dirty="0"/>
          </a:p>
        </p:txBody>
      </p:sp>
      <p:sp>
        <p:nvSpPr>
          <p:cNvPr id="8" name="文本框 7">
            <a:extLst>
              <a:ext uri="{FF2B5EF4-FFF2-40B4-BE49-F238E27FC236}">
                <a16:creationId xmlns:a16="http://schemas.microsoft.com/office/drawing/2014/main" id="{6C0FA695-E267-28A3-66F2-D18684031E1A}"/>
              </a:ext>
            </a:extLst>
          </p:cNvPr>
          <p:cNvSpPr txBox="1"/>
          <p:nvPr/>
        </p:nvSpPr>
        <p:spPr>
          <a:xfrm>
            <a:off x="877824" y="2939713"/>
            <a:ext cx="5754624" cy="877163"/>
          </a:xfrm>
          <a:prstGeom prst="rect">
            <a:avLst/>
          </a:prstGeom>
          <a:noFill/>
        </p:spPr>
        <p:txBody>
          <a:bodyPr wrap="square" rtlCol="0">
            <a:spAutoFit/>
          </a:bodyPr>
          <a:lstStyle/>
          <a:p>
            <a:r>
              <a:rPr lang="zh-CN" altLang="en-US" dirty="0"/>
              <a:t>优化方案：</a:t>
            </a:r>
            <a:endParaRPr lang="en-US" altLang="zh-CN" dirty="0"/>
          </a:p>
          <a:p>
            <a:r>
              <a:rPr lang="zh-CN" altLang="en-US" sz="1100" dirty="0"/>
              <a:t>短文本：</a:t>
            </a:r>
            <a:endParaRPr lang="en-US" altLang="zh-CN" sz="1100" dirty="0"/>
          </a:p>
          <a:p>
            <a:r>
              <a:rPr lang="en-US" altLang="zh-CN" sz="1100" dirty="0"/>
              <a:t>    </a:t>
            </a:r>
            <a:r>
              <a:rPr lang="zh-CN" altLang="en-US" sz="1100" dirty="0"/>
              <a:t>意义明确（如太差了）：保留</a:t>
            </a:r>
            <a:endParaRPr lang="en-US" altLang="zh-CN" sz="1100" dirty="0"/>
          </a:p>
          <a:p>
            <a:r>
              <a:rPr lang="en-US" altLang="zh-CN" sz="1100" dirty="0"/>
              <a:t>    </a:t>
            </a:r>
            <a:r>
              <a:rPr lang="zh-CN" altLang="en-US" sz="1100" dirty="0"/>
              <a:t>意义不明确（</a:t>
            </a:r>
            <a:r>
              <a:rPr lang="en-US" altLang="zh-CN" sz="1100" dirty="0"/>
              <a:t>666</a:t>
            </a:r>
            <a:r>
              <a:rPr lang="zh-CN" altLang="en-US" sz="1100" dirty="0"/>
              <a:t>、？？？）：删除或添加上下问</a:t>
            </a:r>
          </a:p>
        </p:txBody>
      </p:sp>
      <p:pic>
        <p:nvPicPr>
          <p:cNvPr id="12" name="图片 11" descr="图表, 条形图&#10;&#10;AI 生成的内容可能不正确。">
            <a:extLst>
              <a:ext uri="{FF2B5EF4-FFF2-40B4-BE49-F238E27FC236}">
                <a16:creationId xmlns:a16="http://schemas.microsoft.com/office/drawing/2014/main" id="{E2B236BA-346C-AEC0-8208-5746F2493EB4}"/>
              </a:ext>
            </a:extLst>
          </p:cNvPr>
          <p:cNvPicPr>
            <a:picLocks noChangeAspect="1"/>
          </p:cNvPicPr>
          <p:nvPr/>
        </p:nvPicPr>
        <p:blipFill>
          <a:blip r:embed="rId4"/>
          <a:stretch>
            <a:fillRect/>
          </a:stretch>
        </p:blipFill>
        <p:spPr>
          <a:xfrm>
            <a:off x="6632448" y="2005207"/>
            <a:ext cx="2392783" cy="2318473"/>
          </a:xfrm>
          <a:prstGeom prst="rect">
            <a:avLst/>
          </a:prstGeom>
        </p:spPr>
      </p:pic>
    </p:spTree>
    <p:extLst>
      <p:ext uri="{BB962C8B-B14F-4D97-AF65-F5344CB8AC3E}">
        <p14:creationId xmlns:p14="http://schemas.microsoft.com/office/powerpoint/2010/main" val="3786989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F116-9B71-3814-C551-5673461B09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E97CF7-0E73-A0A4-E9F9-BB1CD30F4A0A}"/>
              </a:ext>
            </a:extLst>
          </p:cNvPr>
          <p:cNvSpPr/>
          <p:nvPr/>
        </p:nvSpPr>
        <p:spPr>
          <a:xfrm>
            <a:off x="0" y="0"/>
            <a:ext cx="9144000" cy="5143500"/>
          </a:xfrm>
          <a:prstGeom prst="rect">
            <a:avLst/>
          </a:prstGeom>
          <a:solidFill>
            <a:srgbClr val="FFFFFF"/>
          </a:solidFill>
          <a:ln/>
        </p:spPr>
      </p:sp>
      <p:pic>
        <p:nvPicPr>
          <p:cNvPr id="3" name="Image 0" descr="preencoded.png">
            <a:extLst>
              <a:ext uri="{FF2B5EF4-FFF2-40B4-BE49-F238E27FC236}">
                <a16:creationId xmlns:a16="http://schemas.microsoft.com/office/drawing/2014/main" id="{0D2FEE19-E627-95FF-66D3-D027FB829172}"/>
              </a:ext>
            </a:extLst>
          </p:cNvPr>
          <p:cNvPicPr>
            <a:picLocks noChangeAspect="1"/>
          </p:cNvPicPr>
          <p:nvPr/>
        </p:nvPicPr>
        <p:blipFill>
          <a:blip r:embed="rId3"/>
          <a:srcRect l="9302" r="9302"/>
          <a:stretch/>
        </p:blipFill>
        <p:spPr>
          <a:xfrm>
            <a:off x="0" y="0"/>
            <a:ext cx="9144000" cy="1638300"/>
          </a:xfrm>
          <a:prstGeom prst="rect">
            <a:avLst/>
          </a:prstGeom>
        </p:spPr>
      </p:pic>
      <p:sp>
        <p:nvSpPr>
          <p:cNvPr id="4" name="Text 1">
            <a:extLst>
              <a:ext uri="{FF2B5EF4-FFF2-40B4-BE49-F238E27FC236}">
                <a16:creationId xmlns:a16="http://schemas.microsoft.com/office/drawing/2014/main" id="{77A2B115-CD15-4FE6-D941-02561AEB08A0}"/>
              </a:ext>
            </a:extLst>
          </p:cNvPr>
          <p:cNvSpPr/>
          <p:nvPr/>
        </p:nvSpPr>
        <p:spPr>
          <a:xfrm>
            <a:off x="571500" y="285750"/>
            <a:ext cx="8188452" cy="800100"/>
          </a:xfrm>
          <a:prstGeom prst="rect">
            <a:avLst/>
          </a:prstGeom>
          <a:noFill/>
          <a:ln/>
        </p:spPr>
        <p:txBody>
          <a:bodyPr vert="horz" wrap="square" lIns="0" tIns="0" rIns="0" bIns="0" rtlCol="0" anchor="ctr"/>
          <a:lstStyle/>
          <a:p>
            <a:pPr>
              <a:lnSpc>
                <a:spcPts val="3150"/>
              </a:lnSpc>
            </a:pPr>
            <a:r>
              <a:rPr lang="zh-CN" altLang="en-US" sz="2250" b="1" dirty="0">
                <a:solidFill>
                  <a:srgbClr val="FFFFFF"/>
                </a:solidFill>
                <a:latin typeface="Microsoft YaHei" pitchFamily="34" charset="0"/>
                <a:ea typeface="Microsoft YaHei" pitchFamily="34" charset="-122"/>
                <a:cs typeface="Microsoft YaHei" pitchFamily="34" charset="-120"/>
              </a:rPr>
              <a:t>预测错误数据层面分析（三）</a:t>
            </a:r>
            <a:r>
              <a:rPr lang="en-US" altLang="zh-CN" sz="2250" b="1" dirty="0">
                <a:solidFill>
                  <a:srgbClr val="FFFFFF"/>
                </a:solidFill>
                <a:latin typeface="Microsoft YaHei" pitchFamily="34" charset="0"/>
                <a:ea typeface="Microsoft YaHei" pitchFamily="34" charset="-122"/>
                <a:cs typeface="Microsoft YaHei" pitchFamily="34" charset="-120"/>
              </a:rPr>
              <a:t>——</a:t>
            </a:r>
            <a:r>
              <a:rPr lang="zh-CN" altLang="en-US" sz="2250" b="1" dirty="0">
                <a:solidFill>
                  <a:srgbClr val="FFFFFF"/>
                </a:solidFill>
                <a:latin typeface="Microsoft YaHei" pitchFamily="34" charset="0"/>
                <a:ea typeface="Microsoft YaHei" pitchFamily="34" charset="-122"/>
                <a:cs typeface="Microsoft YaHei" pitchFamily="34" charset="-120"/>
              </a:rPr>
              <a:t>文本长度分布对比柱状图</a:t>
            </a:r>
            <a:endParaRPr lang="en-US" sz="2250" dirty="0"/>
          </a:p>
        </p:txBody>
      </p:sp>
      <p:sp>
        <p:nvSpPr>
          <p:cNvPr id="5" name="Text 2">
            <a:extLst>
              <a:ext uri="{FF2B5EF4-FFF2-40B4-BE49-F238E27FC236}">
                <a16:creationId xmlns:a16="http://schemas.microsoft.com/office/drawing/2014/main" id="{9C8CF2DA-8086-F68E-6FF1-A59494296BA9}"/>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6" name="文本框 5">
            <a:extLst>
              <a:ext uri="{FF2B5EF4-FFF2-40B4-BE49-F238E27FC236}">
                <a16:creationId xmlns:a16="http://schemas.microsoft.com/office/drawing/2014/main" id="{DEC750E4-D9B9-7161-1FD3-FC9A2DE08C0E}"/>
              </a:ext>
            </a:extLst>
          </p:cNvPr>
          <p:cNvSpPr txBox="1"/>
          <p:nvPr/>
        </p:nvSpPr>
        <p:spPr>
          <a:xfrm>
            <a:off x="877824" y="1739384"/>
            <a:ext cx="5754624" cy="1015663"/>
          </a:xfrm>
          <a:prstGeom prst="rect">
            <a:avLst/>
          </a:prstGeom>
          <a:noFill/>
        </p:spPr>
        <p:txBody>
          <a:bodyPr wrap="square" rtlCol="0">
            <a:spAutoFit/>
          </a:bodyPr>
          <a:lstStyle/>
          <a:p>
            <a:r>
              <a:rPr lang="zh-CN" altLang="en-US" sz="1200" dirty="0"/>
              <a:t>数据特点：</a:t>
            </a:r>
            <a:r>
              <a:rPr lang="zh-CN" altLang="en-US" sz="1200" b="1" dirty="0"/>
              <a:t>错误样本更集中于中短文本</a:t>
            </a:r>
            <a:endParaRPr lang="en-US" altLang="zh-CN" sz="1200" b="1" dirty="0"/>
          </a:p>
          <a:p>
            <a:r>
              <a:rPr lang="zh-CN" altLang="en-US" sz="1200" dirty="0"/>
              <a:t>深度思考：为什么错误样本多为短文本？</a:t>
            </a:r>
            <a:endParaRPr lang="en-US" altLang="zh-CN" sz="1200" dirty="0"/>
          </a:p>
          <a:p>
            <a:r>
              <a:rPr lang="en-US" altLang="zh-CN" sz="1200" dirty="0"/>
              <a:t>1.</a:t>
            </a:r>
            <a:r>
              <a:rPr lang="zh-CN" altLang="en-US" sz="1200" dirty="0"/>
              <a:t>信息量不足 </a:t>
            </a:r>
            <a:r>
              <a:rPr lang="en-US" altLang="zh-CN" sz="1200" dirty="0"/>
              <a:t>2.</a:t>
            </a:r>
            <a:r>
              <a:rPr lang="zh-CN" altLang="en-US" sz="1200" dirty="0"/>
              <a:t>语言结构简单 </a:t>
            </a:r>
            <a:r>
              <a:rPr lang="en-US" altLang="zh-CN" sz="1200" dirty="0"/>
              <a:t>3.</a:t>
            </a:r>
            <a:r>
              <a:rPr lang="zh-CN" altLang="en-US" sz="1200" dirty="0"/>
              <a:t>模型对短文本泛化能力弱</a:t>
            </a:r>
            <a:endParaRPr lang="en-US" altLang="zh-CN" sz="1200" dirty="0"/>
          </a:p>
          <a:p>
            <a:endParaRPr lang="zh-CN" altLang="en-US" sz="1200" dirty="0"/>
          </a:p>
          <a:p>
            <a:pPr marL="342900" indent="-342900">
              <a:buFont typeface="+mj-lt"/>
              <a:buAutoNum type="arabicPeriod"/>
            </a:pPr>
            <a:endParaRPr lang="zh-CN" altLang="en-US" sz="1200" dirty="0"/>
          </a:p>
        </p:txBody>
      </p:sp>
      <p:sp>
        <p:nvSpPr>
          <p:cNvPr id="8" name="文本框 7">
            <a:extLst>
              <a:ext uri="{FF2B5EF4-FFF2-40B4-BE49-F238E27FC236}">
                <a16:creationId xmlns:a16="http://schemas.microsoft.com/office/drawing/2014/main" id="{2741AC60-A856-9387-BC71-383F9A8D5BE2}"/>
              </a:ext>
            </a:extLst>
          </p:cNvPr>
          <p:cNvSpPr txBox="1"/>
          <p:nvPr/>
        </p:nvSpPr>
        <p:spPr>
          <a:xfrm>
            <a:off x="877824" y="2939713"/>
            <a:ext cx="5754624" cy="1477328"/>
          </a:xfrm>
          <a:prstGeom prst="rect">
            <a:avLst/>
          </a:prstGeom>
          <a:noFill/>
        </p:spPr>
        <p:txBody>
          <a:bodyPr wrap="square" rtlCol="0">
            <a:spAutoFit/>
          </a:bodyPr>
          <a:lstStyle/>
          <a:p>
            <a:r>
              <a:rPr lang="zh-CN" altLang="en-US" dirty="0"/>
              <a:t>优化方案：</a:t>
            </a:r>
            <a:endParaRPr lang="en-US" altLang="zh-CN" dirty="0"/>
          </a:p>
          <a:p>
            <a:r>
              <a:rPr lang="en-US" altLang="zh-CN" dirty="0"/>
              <a:t>1.</a:t>
            </a:r>
            <a:r>
              <a:rPr lang="zh-CN" altLang="en-US" dirty="0"/>
              <a:t>短文本增强</a:t>
            </a:r>
            <a:endParaRPr lang="en-US" altLang="zh-CN" dirty="0"/>
          </a:p>
          <a:p>
            <a:r>
              <a:rPr lang="en-US" altLang="zh-CN" dirty="0"/>
              <a:t>2.</a:t>
            </a:r>
            <a:r>
              <a:rPr lang="zh-CN" altLang="en-US" dirty="0"/>
              <a:t>更换模型或专门训练个小模型针对短文本</a:t>
            </a:r>
            <a:endParaRPr lang="en-US" altLang="zh-CN" dirty="0"/>
          </a:p>
          <a:p>
            <a:r>
              <a:rPr lang="en-US" altLang="zh-CN" dirty="0"/>
              <a:t>3.</a:t>
            </a:r>
            <a:r>
              <a:rPr lang="zh-CN" altLang="en-US" dirty="0"/>
              <a:t> 用模型发现的规律反哺，做成决策树之类机器学习传统模型，成本更小</a:t>
            </a:r>
            <a:endParaRPr lang="en-US" altLang="zh-CN" dirty="0"/>
          </a:p>
        </p:txBody>
      </p:sp>
      <p:pic>
        <p:nvPicPr>
          <p:cNvPr id="9" name="图片 8" descr="图表, 直方图&#10;&#10;AI 生成的内容可能不正确。">
            <a:extLst>
              <a:ext uri="{FF2B5EF4-FFF2-40B4-BE49-F238E27FC236}">
                <a16:creationId xmlns:a16="http://schemas.microsoft.com/office/drawing/2014/main" id="{180C37C4-B86E-EAE2-7924-A4286D1A74B4}"/>
              </a:ext>
            </a:extLst>
          </p:cNvPr>
          <p:cNvPicPr>
            <a:picLocks noChangeAspect="1"/>
          </p:cNvPicPr>
          <p:nvPr/>
        </p:nvPicPr>
        <p:blipFill>
          <a:blip r:embed="rId4"/>
          <a:stretch>
            <a:fillRect/>
          </a:stretch>
        </p:blipFill>
        <p:spPr>
          <a:xfrm>
            <a:off x="6632448" y="1983715"/>
            <a:ext cx="2288786" cy="2016785"/>
          </a:xfrm>
          <a:prstGeom prst="rect">
            <a:avLst/>
          </a:prstGeom>
        </p:spPr>
      </p:pic>
    </p:spTree>
    <p:extLst>
      <p:ext uri="{BB962C8B-B14F-4D97-AF65-F5344CB8AC3E}">
        <p14:creationId xmlns:p14="http://schemas.microsoft.com/office/powerpoint/2010/main" val="1652389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AB921-B8A1-0DD2-7155-6325F67927A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4E59BDF-72D6-8916-B419-5F47AD03E4BC}"/>
              </a:ext>
            </a:extLst>
          </p:cNvPr>
          <p:cNvSpPr/>
          <p:nvPr/>
        </p:nvSpPr>
        <p:spPr>
          <a:xfrm>
            <a:off x="0" y="0"/>
            <a:ext cx="9144000" cy="5143500"/>
          </a:xfrm>
          <a:prstGeom prst="rect">
            <a:avLst/>
          </a:prstGeom>
          <a:solidFill>
            <a:srgbClr val="FFFFFF"/>
          </a:solidFill>
          <a:ln/>
        </p:spPr>
      </p:sp>
      <p:sp>
        <p:nvSpPr>
          <p:cNvPr id="4" name="Text 1">
            <a:extLst>
              <a:ext uri="{FF2B5EF4-FFF2-40B4-BE49-F238E27FC236}">
                <a16:creationId xmlns:a16="http://schemas.microsoft.com/office/drawing/2014/main" id="{A08A2F34-CC62-3231-9B82-97D32D98A0F8}"/>
              </a:ext>
            </a:extLst>
          </p:cNvPr>
          <p:cNvSpPr/>
          <p:nvPr/>
        </p:nvSpPr>
        <p:spPr>
          <a:xfrm>
            <a:off x="571500" y="285750"/>
            <a:ext cx="8188452" cy="800100"/>
          </a:xfrm>
          <a:prstGeom prst="rect">
            <a:avLst/>
          </a:prstGeom>
          <a:noFill/>
          <a:ln/>
        </p:spPr>
        <p:txBody>
          <a:bodyPr vert="horz" wrap="square" lIns="0" tIns="0" rIns="0" bIns="0" rtlCol="0" anchor="ctr"/>
          <a:lstStyle/>
          <a:p>
            <a:pPr>
              <a:lnSpc>
                <a:spcPts val="3150"/>
              </a:lnSpc>
            </a:pPr>
            <a:r>
              <a:rPr lang="zh-CN" altLang="en-US" sz="2250" b="1" dirty="0">
                <a:latin typeface="Microsoft YaHei" pitchFamily="34" charset="0"/>
                <a:ea typeface="Microsoft YaHei" pitchFamily="34" charset="-122"/>
                <a:cs typeface="Microsoft YaHei" pitchFamily="34" charset="-120"/>
              </a:rPr>
              <a:t>预测错误数据层面分析（三）</a:t>
            </a:r>
            <a:r>
              <a:rPr lang="en-US" altLang="zh-CN" sz="2250" b="1" dirty="0">
                <a:latin typeface="Microsoft YaHei" pitchFamily="34" charset="0"/>
                <a:ea typeface="Microsoft YaHei" pitchFamily="34" charset="-122"/>
                <a:cs typeface="Microsoft YaHei" pitchFamily="34" charset="-120"/>
              </a:rPr>
              <a:t>——</a:t>
            </a:r>
            <a:r>
              <a:rPr lang="zh-CN" altLang="en-US" sz="2250" b="1" dirty="0">
                <a:latin typeface="Microsoft YaHei" pitchFamily="34" charset="0"/>
                <a:ea typeface="Microsoft YaHei" pitchFamily="34" charset="-122"/>
                <a:cs typeface="Microsoft YaHei" pitchFamily="34" charset="-120"/>
              </a:rPr>
              <a:t>短文本增强</a:t>
            </a:r>
            <a:endParaRPr lang="en-US" sz="2250" dirty="0"/>
          </a:p>
        </p:txBody>
      </p:sp>
      <p:sp>
        <p:nvSpPr>
          <p:cNvPr id="5" name="Text 2">
            <a:extLst>
              <a:ext uri="{FF2B5EF4-FFF2-40B4-BE49-F238E27FC236}">
                <a16:creationId xmlns:a16="http://schemas.microsoft.com/office/drawing/2014/main" id="{45BC9787-6F77-254E-0596-A52EA8DA6D85}"/>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0" name="文本框 9">
            <a:extLst>
              <a:ext uri="{FF2B5EF4-FFF2-40B4-BE49-F238E27FC236}">
                <a16:creationId xmlns:a16="http://schemas.microsoft.com/office/drawing/2014/main" id="{E8B6C5C9-44B6-94B7-80D4-344B805BDA37}"/>
              </a:ext>
            </a:extLst>
          </p:cNvPr>
          <p:cNvSpPr txBox="1"/>
          <p:nvPr/>
        </p:nvSpPr>
        <p:spPr>
          <a:xfrm>
            <a:off x="786384" y="1005840"/>
            <a:ext cx="7857744" cy="4247317"/>
          </a:xfrm>
          <a:prstGeom prst="rect">
            <a:avLst/>
          </a:prstGeom>
          <a:noFill/>
        </p:spPr>
        <p:txBody>
          <a:bodyPr wrap="square" rtlCol="0">
            <a:spAutoFit/>
          </a:bodyPr>
          <a:lstStyle/>
          <a:p>
            <a:pPr lvl="0" eaLnBrk="0" fontAlgn="base" hangingPunct="0">
              <a:spcBef>
                <a:spcPct val="0"/>
              </a:spcBef>
              <a:spcAft>
                <a:spcPct val="0"/>
              </a:spcAft>
            </a:pPr>
            <a:r>
              <a:rPr lang="zh-CN" altLang="zh-CN" sz="1000" dirty="0">
                <a:latin typeface="Arial" panose="020B0604020202020204" pitchFamily="34" charset="0"/>
              </a:rPr>
              <a:t>针对短文本的增强策略旨在通过</a:t>
            </a:r>
            <a:r>
              <a:rPr lang="zh-CN" altLang="zh-CN" sz="1000" b="1" dirty="0">
                <a:latin typeface="Arial" panose="020B0604020202020204" pitchFamily="34" charset="0"/>
              </a:rPr>
              <a:t>增加信息量</a:t>
            </a:r>
            <a:r>
              <a:rPr lang="zh-CN" altLang="zh-CN" sz="1000" dirty="0">
                <a:latin typeface="Arial" panose="020B0604020202020204" pitchFamily="34" charset="0"/>
              </a:rPr>
              <a:t>或</a:t>
            </a:r>
            <a:r>
              <a:rPr lang="zh-CN" altLang="zh-CN" sz="1000" b="1" dirty="0">
                <a:latin typeface="Arial" panose="020B0604020202020204" pitchFamily="34" charset="0"/>
              </a:rPr>
              <a:t>改善模型对短文本的理解能力</a:t>
            </a:r>
            <a:r>
              <a:rPr lang="zh-CN" altLang="zh-CN" sz="1000" dirty="0">
                <a:latin typeface="Arial" panose="020B0604020202020204" pitchFamily="34" charset="0"/>
              </a:rPr>
              <a:t>来提升分类性能。</a:t>
            </a:r>
            <a:endParaRPr lang="en-US" altLang="zh-CN" sz="1000" dirty="0">
              <a:latin typeface="Arial" panose="020B0604020202020204" pitchFamily="34" charset="0"/>
            </a:endParaRPr>
          </a:p>
          <a:p>
            <a:pPr lvl="0" eaLnBrk="0" fontAlgn="base" hangingPunct="0">
              <a:spcBef>
                <a:spcPct val="0"/>
              </a:spcBef>
              <a:spcAft>
                <a:spcPct val="0"/>
              </a:spcAft>
            </a:pPr>
            <a:r>
              <a:rPr lang="zh-CN" altLang="zh-CN" sz="1000" b="1" dirty="0">
                <a:latin typeface="Arial" panose="020B0604020202020204" pitchFamily="34" charset="0"/>
              </a:rPr>
              <a:t>1. 数据清洗与过滤</a:t>
            </a:r>
          </a:p>
          <a:p>
            <a:pPr lvl="0" eaLnBrk="0" fontAlgn="base" hangingPunct="0">
              <a:spcBef>
                <a:spcPct val="0"/>
              </a:spcBef>
              <a:spcAft>
                <a:spcPct val="0"/>
              </a:spcAft>
              <a:buFontTx/>
              <a:buChar char="•"/>
            </a:pPr>
            <a:r>
              <a:rPr lang="zh-CN" altLang="zh-CN" sz="1000" b="1" dirty="0">
                <a:latin typeface="Arial" panose="020B0604020202020204" pitchFamily="34" charset="0"/>
              </a:rPr>
              <a:t>移除噪声</a:t>
            </a:r>
            <a:r>
              <a:rPr lang="zh-CN" altLang="zh-CN" sz="1000" dirty="0">
                <a:latin typeface="Arial" panose="020B0604020202020204" pitchFamily="34" charset="0"/>
              </a:rPr>
              <a:t>：确保数据集中没有无意义的文本（如纯数字、单个字符等）。 </a:t>
            </a:r>
          </a:p>
          <a:p>
            <a:pPr lvl="0" eaLnBrk="0" fontAlgn="base" hangingPunct="0">
              <a:spcBef>
                <a:spcPct val="0"/>
              </a:spcBef>
              <a:spcAft>
                <a:spcPct val="0"/>
              </a:spcAft>
              <a:buFontTx/>
              <a:buChar char="•"/>
            </a:pPr>
            <a:r>
              <a:rPr lang="zh-CN" altLang="zh-CN" sz="1000" b="1" dirty="0">
                <a:latin typeface="Arial" panose="020B0604020202020204" pitchFamily="34" charset="0"/>
              </a:rPr>
              <a:t>设定长度阈值</a:t>
            </a:r>
            <a:r>
              <a:rPr lang="zh-CN" altLang="zh-CN" sz="1000" dirty="0">
                <a:latin typeface="Arial" panose="020B0604020202020204" pitchFamily="34" charset="0"/>
              </a:rPr>
              <a:t>：对于过短的文本，可以设置一个最小长度限制，并对其进行处理。 </a:t>
            </a:r>
          </a:p>
          <a:p>
            <a:pPr lvl="0" eaLnBrk="0" fontAlgn="base" hangingPunct="0">
              <a:spcBef>
                <a:spcPct val="0"/>
              </a:spcBef>
              <a:spcAft>
                <a:spcPct val="0"/>
              </a:spcAft>
            </a:pPr>
            <a:endParaRPr lang="zh-CN" altLang="zh-CN" sz="1000" b="1" dirty="0">
              <a:latin typeface="Arial" panose="020B0604020202020204" pitchFamily="34" charset="0"/>
            </a:endParaRPr>
          </a:p>
          <a:p>
            <a:pPr lvl="0" eaLnBrk="0" fontAlgn="base" hangingPunct="0">
              <a:spcBef>
                <a:spcPct val="0"/>
              </a:spcBef>
              <a:spcAft>
                <a:spcPct val="0"/>
              </a:spcAft>
            </a:pPr>
            <a:r>
              <a:rPr lang="zh-CN" altLang="zh-CN" sz="1000" b="1" dirty="0">
                <a:latin typeface="Arial" panose="020B0604020202020204" pitchFamily="34" charset="0"/>
              </a:rPr>
              <a:t>2. 上下文补充</a:t>
            </a:r>
          </a:p>
          <a:p>
            <a:pPr lvl="0" eaLnBrk="0" fontAlgn="base" hangingPunct="0">
              <a:spcBef>
                <a:spcPct val="0"/>
              </a:spcBef>
              <a:spcAft>
                <a:spcPct val="0"/>
              </a:spcAft>
              <a:buFontTx/>
              <a:buChar char="•"/>
            </a:pPr>
            <a:r>
              <a:rPr lang="zh-CN" altLang="zh-CN" sz="1000" b="1" dirty="0">
                <a:latin typeface="Arial" panose="020B0604020202020204" pitchFamily="34" charset="0"/>
              </a:rPr>
              <a:t>利用外部信息</a:t>
            </a:r>
            <a:r>
              <a:rPr lang="zh-CN" altLang="zh-CN" sz="1000" dirty="0">
                <a:latin typeface="Arial" panose="020B0604020202020204" pitchFamily="34" charset="0"/>
              </a:rPr>
              <a:t>：如果短文本是从更大的文档中提取出来的，尝试恢复原始上下文。例如，如果是评论系统，可以将该评论对应的标题或正文包含进来。 </a:t>
            </a:r>
          </a:p>
          <a:p>
            <a:pPr lvl="0" eaLnBrk="0" fontAlgn="base" hangingPunct="0">
              <a:spcBef>
                <a:spcPct val="0"/>
              </a:spcBef>
              <a:spcAft>
                <a:spcPct val="0"/>
              </a:spcAft>
              <a:buFontTx/>
              <a:buChar char="•"/>
            </a:pPr>
            <a:r>
              <a:rPr lang="zh-CN" altLang="zh-CN" sz="1000" b="1" dirty="0">
                <a:latin typeface="Arial" panose="020B0604020202020204" pitchFamily="34" charset="0"/>
              </a:rPr>
              <a:t>用户历史行为</a:t>
            </a:r>
            <a:r>
              <a:rPr lang="zh-CN" altLang="zh-CN" sz="1000" dirty="0">
                <a:latin typeface="Arial" panose="020B0604020202020204" pitchFamily="34" charset="0"/>
              </a:rPr>
              <a:t>：在某些应用场景下，比如电商产品评价，可以考虑加入用户之前对该产品的其他评价或者浏览记录作为额外特征。 </a:t>
            </a:r>
          </a:p>
          <a:p>
            <a:pPr lvl="0" eaLnBrk="0" fontAlgn="base" hangingPunct="0">
              <a:spcBef>
                <a:spcPct val="0"/>
              </a:spcBef>
              <a:spcAft>
                <a:spcPct val="0"/>
              </a:spcAft>
            </a:pPr>
            <a:endParaRPr lang="zh-CN" altLang="zh-CN" sz="1000" b="1" dirty="0">
              <a:latin typeface="Arial" panose="020B0604020202020204" pitchFamily="34" charset="0"/>
            </a:endParaRPr>
          </a:p>
          <a:p>
            <a:pPr lvl="0" eaLnBrk="0" fontAlgn="base" hangingPunct="0">
              <a:spcBef>
                <a:spcPct val="0"/>
              </a:spcBef>
              <a:spcAft>
                <a:spcPct val="0"/>
              </a:spcAft>
            </a:pPr>
            <a:r>
              <a:rPr lang="zh-CN" altLang="zh-CN" sz="1000" b="1" dirty="0">
                <a:latin typeface="Arial" panose="020B0604020202020204" pitchFamily="34" charset="0"/>
              </a:rPr>
              <a:t>3. 数据增强技术</a:t>
            </a:r>
          </a:p>
          <a:p>
            <a:pPr lvl="0" eaLnBrk="0" fontAlgn="base" hangingPunct="0">
              <a:spcBef>
                <a:spcPct val="0"/>
              </a:spcBef>
              <a:spcAft>
                <a:spcPct val="0"/>
              </a:spcAft>
              <a:buFontTx/>
              <a:buChar char="•"/>
            </a:pPr>
            <a:r>
              <a:rPr lang="zh-CN" altLang="zh-CN" sz="1000" b="1" dirty="0">
                <a:latin typeface="Arial" panose="020B0604020202020204" pitchFamily="34" charset="0"/>
              </a:rPr>
              <a:t>同义词替换</a:t>
            </a:r>
            <a:r>
              <a:rPr lang="zh-CN" altLang="zh-CN" sz="1000" dirty="0">
                <a:latin typeface="Arial" panose="020B0604020202020204" pitchFamily="34" charset="0"/>
              </a:rPr>
              <a:t>：随机选择一些词语并用其同义词替换，以创建新的句子变体。 </a:t>
            </a:r>
          </a:p>
          <a:p>
            <a:pPr lvl="0" eaLnBrk="0" fontAlgn="base" hangingPunct="0">
              <a:spcBef>
                <a:spcPct val="0"/>
              </a:spcBef>
              <a:spcAft>
                <a:spcPct val="0"/>
              </a:spcAft>
              <a:buFontTx/>
              <a:buChar char="•"/>
            </a:pPr>
            <a:r>
              <a:rPr lang="zh-CN" altLang="zh-CN" sz="1000" b="1" dirty="0">
                <a:latin typeface="Arial" panose="020B0604020202020204" pitchFamily="34" charset="0"/>
              </a:rPr>
              <a:t>插入关键词</a:t>
            </a:r>
            <a:r>
              <a:rPr lang="zh-CN" altLang="zh-CN" sz="1000" dirty="0">
                <a:latin typeface="Arial" panose="020B0604020202020204" pitchFamily="34" charset="0"/>
              </a:rPr>
              <a:t>：基于领域知识，在短文本中适当位置插入相关但不影响原意的关键词。 </a:t>
            </a:r>
          </a:p>
          <a:p>
            <a:pPr lvl="0" eaLnBrk="0" fontAlgn="base" hangingPunct="0">
              <a:spcBef>
                <a:spcPct val="0"/>
              </a:spcBef>
              <a:spcAft>
                <a:spcPct val="0"/>
              </a:spcAft>
              <a:buFontTx/>
              <a:buChar char="•"/>
            </a:pPr>
            <a:r>
              <a:rPr lang="zh-CN" altLang="zh-CN" sz="1000" b="1" dirty="0">
                <a:latin typeface="Arial" panose="020B0604020202020204" pitchFamily="34" charset="0"/>
              </a:rPr>
              <a:t>回译法</a:t>
            </a:r>
            <a:r>
              <a:rPr lang="zh-CN" altLang="zh-CN" sz="1000" dirty="0">
                <a:latin typeface="Arial" panose="020B0604020202020204" pitchFamily="34" charset="0"/>
              </a:rPr>
              <a:t>：使用机器翻译将文本先翻译成另一种语言再翻译回来，以此生成略有不同的表达方式。 </a:t>
            </a:r>
          </a:p>
          <a:p>
            <a:pPr lvl="0" eaLnBrk="0" fontAlgn="base" hangingPunct="0">
              <a:spcBef>
                <a:spcPct val="0"/>
              </a:spcBef>
              <a:spcAft>
                <a:spcPct val="0"/>
              </a:spcAft>
            </a:pPr>
            <a:endParaRPr lang="zh-CN" altLang="zh-CN" sz="1000" b="1" dirty="0">
              <a:latin typeface="Arial" panose="020B0604020202020204" pitchFamily="34" charset="0"/>
            </a:endParaRPr>
          </a:p>
          <a:p>
            <a:pPr lvl="0" eaLnBrk="0" fontAlgn="base" hangingPunct="0">
              <a:spcBef>
                <a:spcPct val="0"/>
              </a:spcBef>
              <a:spcAft>
                <a:spcPct val="0"/>
              </a:spcAft>
            </a:pPr>
            <a:r>
              <a:rPr lang="zh-CN" altLang="zh-CN" sz="1000" b="1" dirty="0">
                <a:latin typeface="Arial" panose="020B0604020202020204" pitchFamily="34" charset="0"/>
              </a:rPr>
              <a:t>4. 模型改进</a:t>
            </a:r>
          </a:p>
          <a:p>
            <a:pPr lvl="0" eaLnBrk="0" fontAlgn="base" hangingPunct="0">
              <a:spcBef>
                <a:spcPct val="0"/>
              </a:spcBef>
              <a:spcAft>
                <a:spcPct val="0"/>
              </a:spcAft>
              <a:buFontTx/>
              <a:buChar char="•"/>
            </a:pPr>
            <a:r>
              <a:rPr lang="zh-CN" altLang="zh-CN" sz="1000" b="1" dirty="0">
                <a:latin typeface="Arial" panose="020B0604020202020204" pitchFamily="34" charset="0"/>
              </a:rPr>
              <a:t>使用预训练模型</a:t>
            </a:r>
            <a:r>
              <a:rPr lang="zh-CN" altLang="zh-CN" sz="1000" dirty="0">
                <a:latin typeface="Arial" panose="020B0604020202020204" pitchFamily="34" charset="0"/>
              </a:rPr>
              <a:t>：像 BERT 这样的预训练模型能够更好地理解短文本中的语义信息。 </a:t>
            </a:r>
          </a:p>
          <a:p>
            <a:pPr lvl="0" eaLnBrk="0" fontAlgn="base" hangingPunct="0">
              <a:spcBef>
                <a:spcPct val="0"/>
              </a:spcBef>
              <a:spcAft>
                <a:spcPct val="0"/>
              </a:spcAft>
              <a:buFontTx/>
              <a:buChar char="•"/>
            </a:pPr>
            <a:r>
              <a:rPr lang="zh-CN" altLang="zh-CN" sz="1000" b="1" dirty="0">
                <a:latin typeface="Arial" panose="020B0604020202020204" pitchFamily="34" charset="0"/>
              </a:rPr>
              <a:t>层次化模型设计</a:t>
            </a:r>
            <a:r>
              <a:rPr lang="zh-CN" altLang="zh-CN" sz="1000" dirty="0">
                <a:latin typeface="Arial" panose="020B0604020202020204" pitchFamily="34" charset="0"/>
              </a:rPr>
              <a:t>：对于特别短的文本，可以设计专门的层来处理，比如先进行局部特征提取，然后再做全局聚合。 </a:t>
            </a:r>
          </a:p>
          <a:p>
            <a:pPr lvl="0" eaLnBrk="0" fontAlgn="base" hangingPunct="0">
              <a:spcBef>
                <a:spcPct val="0"/>
              </a:spcBef>
              <a:spcAft>
                <a:spcPct val="0"/>
              </a:spcAft>
              <a:buFontTx/>
              <a:buChar char="•"/>
            </a:pPr>
            <a:r>
              <a:rPr lang="zh-CN" altLang="zh-CN" sz="1000" b="1" dirty="0">
                <a:latin typeface="Arial" panose="020B0604020202020204" pitchFamily="34" charset="0"/>
              </a:rPr>
              <a:t>注意力机制</a:t>
            </a:r>
            <a:r>
              <a:rPr lang="zh-CN" altLang="zh-CN" sz="1000" dirty="0">
                <a:latin typeface="Arial" panose="020B0604020202020204" pitchFamily="34" charset="0"/>
              </a:rPr>
              <a:t>：加强模型对重要词汇的关注度，有助于捕捉短文本中的关键信息。 </a:t>
            </a:r>
          </a:p>
          <a:p>
            <a:pPr lvl="0" eaLnBrk="0" fontAlgn="base" hangingPunct="0">
              <a:spcBef>
                <a:spcPct val="0"/>
              </a:spcBef>
              <a:spcAft>
                <a:spcPct val="0"/>
              </a:spcAft>
            </a:pPr>
            <a:endParaRPr lang="zh-CN" altLang="zh-CN" sz="1000" b="1" dirty="0">
              <a:latin typeface="Arial" panose="020B0604020202020204" pitchFamily="34" charset="0"/>
            </a:endParaRPr>
          </a:p>
          <a:p>
            <a:pPr lvl="0" eaLnBrk="0" fontAlgn="base" hangingPunct="0">
              <a:spcBef>
                <a:spcPct val="0"/>
              </a:spcBef>
              <a:spcAft>
                <a:spcPct val="0"/>
              </a:spcAft>
            </a:pPr>
            <a:r>
              <a:rPr lang="zh-CN" altLang="zh-CN" sz="1000" b="1" dirty="0">
                <a:latin typeface="Arial" panose="020B0604020202020204" pitchFamily="34" charset="0"/>
              </a:rPr>
              <a:t>5. 混合策略</a:t>
            </a:r>
          </a:p>
          <a:p>
            <a:pPr lvl="0" eaLnBrk="0" fontAlgn="base" hangingPunct="0">
              <a:spcBef>
                <a:spcPct val="0"/>
              </a:spcBef>
              <a:spcAft>
                <a:spcPct val="0"/>
              </a:spcAft>
            </a:pPr>
            <a:r>
              <a:rPr lang="zh-CN" altLang="zh-CN" sz="1000" dirty="0">
                <a:latin typeface="Arial" panose="020B0604020202020204" pitchFamily="34" charset="0"/>
              </a:rPr>
              <a:t>结合上述多种方法，形成一套综合的短文本增强方案。例如，在应用数据增强的同时，也可以采用更强大的模型架构，并辅以适当的上下文补充。</a:t>
            </a:r>
          </a:p>
          <a:p>
            <a:pPr lvl="0" eaLnBrk="0" fontAlgn="base" hangingPunct="0">
              <a:spcBef>
                <a:spcPct val="0"/>
              </a:spcBef>
              <a:spcAft>
                <a:spcPct val="0"/>
              </a:spcAft>
            </a:pPr>
            <a:r>
              <a:rPr lang="zh-CN" altLang="zh-CN" sz="1000" dirty="0">
                <a:latin typeface="Arial" panose="020B0604020202020204" pitchFamily="34" charset="0"/>
              </a:rPr>
              <a:t>通过实施这些策略，可以帮助缓解由于文本过短导致的信息不足问题，从而提高模型的准确性和鲁棒性。</a:t>
            </a:r>
          </a:p>
          <a:p>
            <a:pPr lvl="0" eaLnBrk="0" fontAlgn="base" hangingPunct="0">
              <a:spcBef>
                <a:spcPct val="0"/>
              </a:spcBef>
              <a:spcAft>
                <a:spcPct val="0"/>
              </a:spcAft>
            </a:pPr>
            <a:br>
              <a:rPr lang="zh-CN" altLang="zh-CN" sz="1000" dirty="0">
                <a:latin typeface="Arial" panose="020B0604020202020204" pitchFamily="34" charset="0"/>
              </a:rPr>
            </a:br>
            <a:endParaRPr lang="zh-CN" altLang="zh-CN" sz="1000" dirty="0">
              <a:latin typeface="Arial" panose="020B0604020202020204" pitchFamily="34" charset="0"/>
            </a:endParaRPr>
          </a:p>
          <a:p>
            <a:endParaRPr lang="zh-CN" altLang="en-US" sz="1000" dirty="0"/>
          </a:p>
        </p:txBody>
      </p:sp>
    </p:spTree>
    <p:extLst>
      <p:ext uri="{BB962C8B-B14F-4D97-AF65-F5344CB8AC3E}">
        <p14:creationId xmlns:p14="http://schemas.microsoft.com/office/powerpoint/2010/main" val="1673125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5E187-9DF3-F421-FFA5-34627C7C950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CF14D8-DF5E-FFA0-9253-A1665164ECEC}"/>
              </a:ext>
            </a:extLst>
          </p:cNvPr>
          <p:cNvSpPr/>
          <p:nvPr/>
        </p:nvSpPr>
        <p:spPr>
          <a:xfrm>
            <a:off x="0" y="0"/>
            <a:ext cx="9144000" cy="5143500"/>
          </a:xfrm>
          <a:prstGeom prst="rect">
            <a:avLst/>
          </a:prstGeom>
          <a:solidFill>
            <a:srgbClr val="FFFFFF"/>
          </a:solidFill>
          <a:ln/>
        </p:spPr>
      </p:sp>
      <p:sp>
        <p:nvSpPr>
          <p:cNvPr id="4" name="Text 1">
            <a:extLst>
              <a:ext uri="{FF2B5EF4-FFF2-40B4-BE49-F238E27FC236}">
                <a16:creationId xmlns:a16="http://schemas.microsoft.com/office/drawing/2014/main" id="{1987EF84-A1B3-516A-DB5D-32B1A6B7B1D6}"/>
              </a:ext>
            </a:extLst>
          </p:cNvPr>
          <p:cNvSpPr/>
          <p:nvPr/>
        </p:nvSpPr>
        <p:spPr>
          <a:xfrm>
            <a:off x="571500" y="465749"/>
            <a:ext cx="8936736" cy="800100"/>
          </a:xfrm>
          <a:prstGeom prst="rect">
            <a:avLst/>
          </a:prstGeom>
          <a:noFill/>
          <a:ln/>
        </p:spPr>
        <p:txBody>
          <a:bodyPr vert="horz" wrap="square" lIns="0" tIns="0" rIns="0" bIns="0" rtlCol="0" anchor="ctr"/>
          <a:lstStyle/>
          <a:p>
            <a:pPr>
              <a:lnSpc>
                <a:spcPts val="3150"/>
              </a:lnSpc>
            </a:pPr>
            <a:r>
              <a:rPr lang="zh-CN" altLang="en-US" sz="2250" b="1" dirty="0">
                <a:latin typeface="Microsoft YaHei" pitchFamily="34" charset="0"/>
                <a:ea typeface="Microsoft YaHei" pitchFamily="34" charset="-122"/>
                <a:cs typeface="Microsoft YaHei" pitchFamily="34" charset="-120"/>
              </a:rPr>
              <a:t>预测错误数据层面分析（三）</a:t>
            </a:r>
            <a:endParaRPr lang="en-US" altLang="zh-CN" sz="2250" b="1" dirty="0">
              <a:latin typeface="Microsoft YaHei" pitchFamily="34" charset="0"/>
              <a:ea typeface="Microsoft YaHei" pitchFamily="34" charset="-122"/>
              <a:cs typeface="Microsoft YaHei" pitchFamily="34" charset="-120"/>
            </a:endParaRPr>
          </a:p>
          <a:p>
            <a:pPr>
              <a:lnSpc>
                <a:spcPts val="3150"/>
              </a:lnSpc>
            </a:pPr>
            <a:r>
              <a:rPr lang="en-US" altLang="zh-CN" sz="2250" b="1" dirty="0">
                <a:latin typeface="Microsoft YaHei" pitchFamily="34" charset="0"/>
                <a:ea typeface="Microsoft YaHei" pitchFamily="34" charset="-122"/>
                <a:cs typeface="Microsoft YaHei" pitchFamily="34" charset="-120"/>
              </a:rPr>
              <a:t>——</a:t>
            </a:r>
            <a:r>
              <a:rPr lang="zh-CN" altLang="en-US" sz="2250" b="1" dirty="0">
                <a:latin typeface="Microsoft YaHei" pitchFamily="34" charset="0"/>
                <a:ea typeface="Microsoft YaHei" pitchFamily="34" charset="-122"/>
                <a:cs typeface="Microsoft YaHei" pitchFamily="34" charset="-120"/>
              </a:rPr>
              <a:t>深度学习模型 </a:t>
            </a:r>
            <a:r>
              <a:rPr lang="en-US" altLang="zh-CN" sz="2250" b="1" dirty="0">
                <a:latin typeface="Microsoft YaHei" pitchFamily="34" charset="0"/>
                <a:ea typeface="Microsoft YaHei" pitchFamily="34" charset="-122"/>
                <a:cs typeface="Microsoft YaHei" pitchFamily="34" charset="-120"/>
              </a:rPr>
              <a:t>to </a:t>
            </a:r>
            <a:r>
              <a:rPr lang="zh-CN" altLang="en-US" sz="2250" b="1" dirty="0">
                <a:latin typeface="Microsoft YaHei" pitchFamily="34" charset="0"/>
                <a:ea typeface="Microsoft YaHei" pitchFamily="34" charset="-122"/>
                <a:cs typeface="Microsoft YaHei" pitchFamily="34" charset="-120"/>
              </a:rPr>
              <a:t>传统机器学习模型（</a:t>
            </a:r>
            <a:r>
              <a:rPr lang="zh-CN" altLang="en-US" b="1" dirty="0"/>
              <a:t>“知识蒸馏”思想的简化版</a:t>
            </a:r>
            <a:r>
              <a:rPr lang="zh-CN" altLang="en-US" sz="2250" b="1" dirty="0">
                <a:latin typeface="Microsoft YaHei" pitchFamily="34" charset="0"/>
                <a:ea typeface="Microsoft YaHei" pitchFamily="34" charset="-122"/>
                <a:cs typeface="Microsoft YaHei" pitchFamily="34" charset="-120"/>
              </a:rPr>
              <a:t>）</a:t>
            </a:r>
            <a:endParaRPr lang="en-US" altLang="zh-CN" sz="2250" b="1" dirty="0">
              <a:latin typeface="Microsoft YaHei" pitchFamily="34" charset="0"/>
              <a:ea typeface="Microsoft YaHei" pitchFamily="34" charset="-122"/>
              <a:cs typeface="Microsoft YaHei" pitchFamily="34" charset="-120"/>
            </a:endParaRPr>
          </a:p>
        </p:txBody>
      </p:sp>
      <p:sp>
        <p:nvSpPr>
          <p:cNvPr id="5" name="Text 2">
            <a:extLst>
              <a:ext uri="{FF2B5EF4-FFF2-40B4-BE49-F238E27FC236}">
                <a16:creationId xmlns:a16="http://schemas.microsoft.com/office/drawing/2014/main" id="{3E007ACB-93C5-46E7-7FB3-8EFDA2FC952F}"/>
              </a:ext>
            </a:extLst>
          </p:cNvPr>
          <p:cNvSpPr/>
          <p:nvPr/>
        </p:nvSpPr>
        <p:spPr>
          <a:xfrm>
            <a:off x="571500" y="1143000"/>
            <a:ext cx="8001000" cy="209550"/>
          </a:xfrm>
          <a:prstGeom prst="rect">
            <a:avLst/>
          </a:prstGeom>
          <a:noFill/>
          <a:ln/>
        </p:spPr>
        <p:txBody>
          <a:bodyPr vert="horz" wrap="square" lIns="0" tIns="0" rIns="0" bIns="0" rtlCol="0" anchor="ctr"/>
          <a:lstStyle/>
          <a:p>
            <a:pPr marL="0" indent="0" algn="l">
              <a:lnSpc>
                <a:spcPts val="1650"/>
              </a:lnSpc>
              <a:buNone/>
            </a:pPr>
            <a:endParaRPr lang="en-US" sz="1200" dirty="0"/>
          </a:p>
        </p:txBody>
      </p:sp>
      <p:sp>
        <p:nvSpPr>
          <p:cNvPr id="10" name="文本框 9">
            <a:extLst>
              <a:ext uri="{FF2B5EF4-FFF2-40B4-BE49-F238E27FC236}">
                <a16:creationId xmlns:a16="http://schemas.microsoft.com/office/drawing/2014/main" id="{011C1BA7-D72A-30C9-AC61-7C31E5615F9D}"/>
              </a:ext>
            </a:extLst>
          </p:cNvPr>
          <p:cNvSpPr txBox="1"/>
          <p:nvPr/>
        </p:nvSpPr>
        <p:spPr>
          <a:xfrm>
            <a:off x="1286256" y="1717881"/>
            <a:ext cx="7857744" cy="2215991"/>
          </a:xfrm>
          <a:prstGeom prst="rect">
            <a:avLst/>
          </a:prstGeom>
          <a:noFill/>
        </p:spPr>
        <p:txBody>
          <a:bodyPr wrap="square" rtlCol="0">
            <a:spAutoFit/>
          </a:bodyPr>
          <a:lstStyle/>
          <a:p>
            <a:pPr fontAlgn="t"/>
            <a:r>
              <a:rPr lang="zh-CN" altLang="en-US" dirty="0"/>
              <a:t>工程价值：保留一定性能，又能大幅降低推理成本、提升可解释性</a:t>
            </a:r>
            <a:endParaRPr lang="en-US" altLang="zh-CN" sz="2250" dirty="0"/>
          </a:p>
          <a:p>
            <a:pPr fontAlgn="t"/>
            <a:endParaRPr lang="en-US" altLang="zh-CN" b="1" dirty="0"/>
          </a:p>
          <a:p>
            <a:pPr fontAlgn="t"/>
            <a:endParaRPr lang="en-US" altLang="zh-CN" b="1" dirty="0"/>
          </a:p>
          <a:p>
            <a:pPr fontAlgn="t"/>
            <a:endParaRPr lang="en-US" altLang="zh-CN" b="1" dirty="0"/>
          </a:p>
          <a:p>
            <a:pPr fontAlgn="t"/>
            <a:r>
              <a:rPr lang="zh-CN" altLang="en-US" b="1" dirty="0"/>
              <a:t>可行性分析：</a:t>
            </a:r>
            <a:endParaRPr lang="en-US" altLang="zh-CN" b="1" dirty="0"/>
          </a:p>
          <a:p>
            <a:pPr fontAlgn="t"/>
            <a:r>
              <a:rPr lang="en-US" altLang="zh-CN" sz="1200" b="1" dirty="0"/>
              <a:t>	</a:t>
            </a:r>
            <a:r>
              <a:rPr lang="zh-CN" altLang="en-US" sz="1200" b="1" dirty="0"/>
              <a:t>深度模型擅长“特征发现”</a:t>
            </a:r>
            <a:br>
              <a:rPr lang="zh-CN" altLang="en-US" sz="1200" dirty="0"/>
            </a:br>
            <a:r>
              <a:rPr lang="en-US" altLang="zh-CN" sz="1200" dirty="0"/>
              <a:t>	</a:t>
            </a:r>
            <a:r>
              <a:rPr lang="en-US" altLang="zh-CN" sz="1200" dirty="0" err="1"/>
              <a:t>BiRNN</a:t>
            </a:r>
            <a:r>
              <a:rPr lang="en-US" altLang="zh-CN" sz="1200" dirty="0"/>
              <a:t>/</a:t>
            </a:r>
            <a:r>
              <a:rPr lang="en-US" altLang="zh-CN" sz="1200" dirty="0" err="1"/>
              <a:t>TextCNN</a:t>
            </a:r>
            <a:r>
              <a:rPr lang="en-US" altLang="zh-CN" sz="1200" dirty="0"/>
              <a:t> </a:t>
            </a:r>
            <a:r>
              <a:rPr lang="zh-CN" altLang="en-US" sz="1200" dirty="0"/>
              <a:t>能自动学习词序、上下文、</a:t>
            </a:r>
            <a:r>
              <a:rPr lang="en-US" altLang="zh-CN" sz="1200" dirty="0"/>
              <a:t>n-gram </a:t>
            </a:r>
            <a:r>
              <a:rPr lang="zh-CN" altLang="en-US" sz="1200" dirty="0"/>
              <a:t>组合等复杂模式，但推理成本高。</a:t>
            </a:r>
          </a:p>
          <a:p>
            <a:pPr fontAlgn="t"/>
            <a:r>
              <a:rPr lang="en-US" altLang="zh-CN" sz="1200" b="1" dirty="0"/>
              <a:t>	</a:t>
            </a:r>
            <a:r>
              <a:rPr lang="zh-CN" altLang="en-US" sz="1200" b="1" dirty="0"/>
              <a:t>传统模型擅长“高效决策”</a:t>
            </a:r>
            <a:br>
              <a:rPr lang="zh-CN" altLang="en-US" sz="1200" dirty="0"/>
            </a:br>
            <a:r>
              <a:rPr lang="en-US" altLang="zh-CN" sz="1200" dirty="0"/>
              <a:t>	</a:t>
            </a:r>
            <a:r>
              <a:rPr lang="zh-CN" altLang="en-US" sz="1200" dirty="0"/>
              <a:t>决策树、</a:t>
            </a:r>
            <a:r>
              <a:rPr lang="en-US" altLang="zh-CN" sz="1200" dirty="0"/>
              <a:t>LR </a:t>
            </a:r>
            <a:r>
              <a:rPr lang="zh-CN" altLang="en-US" sz="1200" dirty="0"/>
              <a:t>等模型推理快、内存小、可解释，但依赖人工或高质量特征。</a:t>
            </a:r>
          </a:p>
        </p:txBody>
      </p:sp>
    </p:spTree>
    <p:extLst>
      <p:ext uri="{BB962C8B-B14F-4D97-AF65-F5344CB8AC3E}">
        <p14:creationId xmlns:p14="http://schemas.microsoft.com/office/powerpoint/2010/main" val="16285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3314700"/>
            <a:ext cx="47625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系统界面与功能展示</a:t>
            </a:r>
            <a:endParaRPr lang="en-US" sz="3750" dirty="0"/>
          </a:p>
        </p:txBody>
      </p:sp>
      <p:sp>
        <p:nvSpPr>
          <p:cNvPr id="4" name="Shape 1"/>
          <p:cNvSpPr/>
          <p:nvPr/>
        </p:nvSpPr>
        <p:spPr>
          <a:xfrm>
            <a:off x="571500" y="4157662"/>
            <a:ext cx="4762500" cy="14288"/>
          </a:xfrm>
          <a:prstGeom prst="rect">
            <a:avLst/>
          </a:prstGeom>
          <a:solidFill>
            <a:srgbClr val="FFFFFF">
              <a:alpha val="30000"/>
            </a:srgbClr>
          </a:solidFill>
          <a:ln/>
        </p:spPr>
      </p:sp>
      <p:sp>
        <p:nvSpPr>
          <p:cNvPr id="5" name="Text 2"/>
          <p:cNvSpPr/>
          <p:nvPr/>
        </p:nvSpPr>
        <p:spPr>
          <a:xfrm>
            <a:off x="571500" y="4362450"/>
            <a:ext cx="4762500" cy="20955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6" name="Text 3"/>
          <p:cNvSpPr/>
          <p:nvPr/>
        </p:nvSpPr>
        <p:spPr>
          <a:xfrm>
            <a:off x="5419725" y="3009900"/>
            <a:ext cx="3729038" cy="2857500"/>
          </a:xfrm>
          <a:prstGeom prst="rect">
            <a:avLst/>
          </a:prstGeom>
          <a:noFill/>
          <a:ln/>
        </p:spPr>
        <p:txBody>
          <a:bodyPr vert="horz" wrap="square" lIns="0" tIns="0" rIns="0" bIns="0" rtlCol="0" anchor="ctr"/>
          <a:lstStyle/>
          <a:p>
            <a:pPr marL="0" indent="0" algn="ctr">
              <a:lnSpc>
                <a:spcPts val="22500"/>
              </a:lnSpc>
              <a:buNone/>
            </a:pPr>
            <a:r>
              <a:rPr lang="en-US" sz="22500" b="1" dirty="0">
                <a:solidFill>
                  <a:srgbClr val="FFFFFF">
                    <a:alpha val="70000"/>
                  </a:srgbClr>
                </a:solidFill>
                <a:latin typeface="Microsoft YaHei" pitchFamily="34" charset="0"/>
                <a:ea typeface="Microsoft YaHei" pitchFamily="34" charset="-122"/>
                <a:cs typeface="Microsoft YaHei" pitchFamily="34" charset="-120"/>
              </a:rPr>
              <a:t>06</a:t>
            </a:r>
            <a:endParaRPr lang="en-US" sz="22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形用户界面, 网站&#10;&#10;AI 生成的内容可能不正确。">
            <a:extLst>
              <a:ext uri="{FF2B5EF4-FFF2-40B4-BE49-F238E27FC236}">
                <a16:creationId xmlns:a16="http://schemas.microsoft.com/office/drawing/2014/main" id="{05F85B0B-3813-2977-4662-56F9626607AB}"/>
              </a:ext>
            </a:extLst>
          </p:cNvPr>
          <p:cNvPicPr>
            <a:picLocks noChangeAspect="1"/>
          </p:cNvPicPr>
          <p:nvPr/>
        </p:nvPicPr>
        <p:blipFill>
          <a:blip r:embed="rId2"/>
          <a:stretch>
            <a:fillRect/>
          </a:stretch>
        </p:blipFill>
        <p:spPr>
          <a:xfrm>
            <a:off x="0" y="561128"/>
            <a:ext cx="9144000" cy="4350428"/>
          </a:xfrm>
          <a:prstGeom prst="rect">
            <a:avLst/>
          </a:prstGeom>
        </p:spPr>
      </p:pic>
      <p:sp>
        <p:nvSpPr>
          <p:cNvPr id="6" name="Text 1">
            <a:extLst>
              <a:ext uri="{FF2B5EF4-FFF2-40B4-BE49-F238E27FC236}">
                <a16:creationId xmlns:a16="http://schemas.microsoft.com/office/drawing/2014/main" id="{5D1606C6-F91D-E3EF-9F72-65B48B58E47A}"/>
              </a:ext>
            </a:extLst>
          </p:cNvPr>
          <p:cNvSpPr/>
          <p:nvPr/>
        </p:nvSpPr>
        <p:spPr>
          <a:xfrm>
            <a:off x="266700" y="-114300"/>
            <a:ext cx="8188452" cy="800100"/>
          </a:xfrm>
          <a:prstGeom prst="rect">
            <a:avLst/>
          </a:prstGeom>
          <a:noFill/>
          <a:ln/>
        </p:spPr>
        <p:txBody>
          <a:bodyPr vert="horz" wrap="square" lIns="0" tIns="0" rIns="0" bIns="0" rtlCol="0" anchor="ctr"/>
          <a:lstStyle/>
          <a:p>
            <a:r>
              <a:rPr lang="en-US" altLang="zh-CN" dirty="0" err="1"/>
              <a:t>gradio</a:t>
            </a:r>
            <a:r>
              <a:rPr lang="zh-CN" altLang="en-US" dirty="0"/>
              <a:t>：快速创建和分享机器学习模型 </a:t>
            </a:r>
            <a:r>
              <a:rPr lang="en-US" altLang="zh-CN" dirty="0"/>
              <a:t>Web </a:t>
            </a:r>
            <a:r>
              <a:rPr lang="zh-CN" altLang="en-US" dirty="0"/>
              <a:t>界面的 </a:t>
            </a:r>
            <a:r>
              <a:rPr lang="en-US" altLang="zh-CN" dirty="0"/>
              <a:t>Python </a:t>
            </a:r>
            <a:r>
              <a:rPr lang="zh-CN" altLang="en-US" dirty="0"/>
              <a:t>库</a:t>
            </a:r>
            <a:endParaRPr lang="en-US" altLang="zh-CN" dirty="0"/>
          </a:p>
        </p:txBody>
      </p:sp>
    </p:spTree>
    <p:extLst>
      <p:ext uri="{BB962C8B-B14F-4D97-AF65-F5344CB8AC3E}">
        <p14:creationId xmlns:p14="http://schemas.microsoft.com/office/powerpoint/2010/main" val="2216945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571500" y="2014538"/>
            <a:ext cx="8001000" cy="666750"/>
          </a:xfrm>
          <a:prstGeom prst="rect">
            <a:avLst/>
          </a:prstGeom>
          <a:noFill/>
          <a:ln/>
        </p:spPr>
        <p:txBody>
          <a:bodyPr vert="horz" wrap="square" lIns="0" tIns="0" rIns="0" bIns="0" rtlCol="0" anchor="ctr"/>
          <a:lstStyle/>
          <a:p>
            <a:pPr marL="0" indent="0" algn="l">
              <a:lnSpc>
                <a:spcPts val="5250"/>
              </a:lnSpc>
              <a:buNone/>
            </a:pPr>
            <a:r>
              <a:rPr lang="en-US" sz="3750" b="1" dirty="0">
                <a:solidFill>
                  <a:srgbClr val="FFFFFF"/>
                </a:solidFill>
                <a:latin typeface="Microsoft YaHei" pitchFamily="34" charset="0"/>
                <a:ea typeface="Microsoft YaHei" pitchFamily="34" charset="-122"/>
                <a:cs typeface="Microsoft YaHei" pitchFamily="34" charset="-120"/>
              </a:rPr>
              <a:t>THANKS</a:t>
            </a:r>
            <a:endParaRPr lang="en-US" sz="3750" dirty="0"/>
          </a:p>
        </p:txBody>
      </p:sp>
      <p:sp>
        <p:nvSpPr>
          <p:cNvPr id="5" name="Text 2"/>
          <p:cNvSpPr/>
          <p:nvPr/>
        </p:nvSpPr>
        <p:spPr>
          <a:xfrm>
            <a:off x="571500" y="3462337"/>
            <a:ext cx="8001000" cy="190500"/>
          </a:xfrm>
          <a:prstGeom prst="rect">
            <a:avLst/>
          </a:prstGeom>
          <a:noFill/>
          <a:ln/>
        </p:spPr>
        <p:txBody>
          <a:bodyPr vert="horz" wrap="square" lIns="0" tIns="0" rIns="0" bIns="0" rtlCol="0" anchor="ctr"/>
          <a:lstStyle/>
          <a:p>
            <a:pPr>
              <a:lnSpc>
                <a:spcPts val="1500"/>
              </a:lnSpc>
            </a:pPr>
            <a:r>
              <a:rPr lang="zh-CN" altLang="en-US" sz="1200" dirty="0">
                <a:solidFill>
                  <a:srgbClr val="FFFFFF"/>
                </a:solidFill>
                <a:latin typeface="Microsoft YaHei" pitchFamily="34" charset="0"/>
                <a:ea typeface="Microsoft YaHei" pitchFamily="34" charset="-122"/>
                <a:cs typeface="Microsoft YaHei" pitchFamily="34" charset="-120"/>
              </a:rPr>
              <a:t>参考：</a:t>
            </a:r>
            <a:r>
              <a:rPr lang="en-US" altLang="zh-CN" sz="1200" dirty="0">
                <a:latin typeface="Microsoft YaHei" pitchFamily="34" charset="0"/>
                <a:ea typeface="Microsoft YaHei" pitchFamily="34" charset="-122"/>
                <a:cs typeface="Microsoft YaHei" pitchFamily="34" charset="-120"/>
              </a:rPr>
              <a:t>《</a:t>
            </a:r>
            <a:r>
              <a:rPr lang="zh-CN" altLang="en-US" sz="1200" dirty="0">
                <a:latin typeface="Microsoft YaHei" pitchFamily="34" charset="0"/>
                <a:ea typeface="Microsoft YaHei" pitchFamily="34" charset="-122"/>
                <a:cs typeface="Microsoft YaHei" pitchFamily="34" charset="-120"/>
              </a:rPr>
              <a:t>动手学深度学习</a:t>
            </a:r>
            <a:r>
              <a:rPr lang="en-US" altLang="zh-CN" sz="1200" dirty="0">
                <a:latin typeface="Microsoft YaHei" pitchFamily="34" charset="0"/>
                <a:ea typeface="Microsoft YaHei" pitchFamily="34" charset="-122"/>
                <a:cs typeface="Microsoft YaHei" pitchFamily="34" charset="-120"/>
              </a:rPr>
              <a:t>》——</a:t>
            </a:r>
            <a:r>
              <a:rPr lang="zh-CN" altLang="en-US" sz="1200" dirty="0">
                <a:latin typeface="Microsoft YaHei" pitchFamily="34" charset="0"/>
                <a:ea typeface="Microsoft YaHei" pitchFamily="34" charset="-122"/>
                <a:cs typeface="Microsoft YaHei" pitchFamily="34" charset="-120"/>
              </a:rPr>
              <a:t>李沐</a:t>
            </a:r>
            <a:r>
              <a:rPr lang="zh-CN" altLang="en-US" sz="1200" dirty="0">
                <a:solidFill>
                  <a:srgbClr val="FFFFFF"/>
                </a:solidFill>
                <a:latin typeface="Microsoft YaHei" pitchFamily="34" charset="0"/>
                <a:ea typeface="Microsoft YaHei" pitchFamily="34" charset="-122"/>
                <a:cs typeface="Microsoft YaHei" pitchFamily="34" charset="-120"/>
              </a:rPr>
              <a:t>（</a:t>
            </a:r>
            <a:r>
              <a:rPr lang="en-US" altLang="zh-CN" sz="1200" dirty="0">
                <a:solidFill>
                  <a:srgbClr val="FFFFFF"/>
                </a:solidFill>
                <a:latin typeface="Microsoft YaHei" pitchFamily="34" charset="0"/>
                <a:ea typeface="Microsoft YaHei" pitchFamily="34" charset="-122"/>
                <a:cs typeface="Microsoft YaHei" pitchFamily="34" charset="-120"/>
                <a:hlinkClick r:id="rId4"/>
              </a:rPr>
              <a:t>https://zh.d2l.ai/index.html</a:t>
            </a:r>
            <a:r>
              <a:rPr lang="zh-CN" altLang="en-US" sz="1200" dirty="0">
                <a:solidFill>
                  <a:srgbClr val="FFFFFF"/>
                </a:solidFill>
                <a:latin typeface="Microsoft YaHei" pitchFamily="34" charset="0"/>
                <a:ea typeface="Microsoft YaHei" pitchFamily="34" charset="-122"/>
                <a:cs typeface="Microsoft YaHei" pitchFamily="34" charset="-120"/>
              </a:rPr>
              <a:t>）</a:t>
            </a:r>
            <a:endParaRPr lang="en-US" altLang="zh-CN" sz="1200" dirty="0">
              <a:solidFill>
                <a:srgbClr val="FFFFFF"/>
              </a:solidFill>
              <a:latin typeface="Microsoft YaHei" pitchFamily="34" charset="0"/>
              <a:ea typeface="Microsoft YaHei" pitchFamily="34" charset="-122"/>
              <a:cs typeface="Microsoft YaHei" pitchFamily="34" charset="-120"/>
            </a:endParaRPr>
          </a:p>
          <a:p>
            <a:br>
              <a:rPr lang="en-US" altLang="zh-CN" sz="1200" dirty="0"/>
            </a:b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1653</Words>
  <Application>Microsoft Office PowerPoint</Application>
  <PresentationFormat>全屏显示(16:9)</PresentationFormat>
  <Paragraphs>226</Paragraphs>
  <Slides>33</Slides>
  <Notes>30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-apple-system</vt:lpstr>
      <vt:lpstr>ui-monospace</vt: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祥烨 陈</cp:lastModifiedBy>
  <cp:revision>16</cp:revision>
  <dcterms:created xsi:type="dcterms:W3CDTF">2025-12-16T09:56:35Z</dcterms:created>
  <dcterms:modified xsi:type="dcterms:W3CDTF">2025-12-16T15:11:18Z</dcterms:modified>
</cp:coreProperties>
</file>